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7569200" cy="10693400"/>
  <p:notesSz cx="7569200" cy="106934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EFRNON+Symbol" panose="020B0604020202020204" charset="2"/>
      <p:regular r:id="rId22"/>
    </p:embeddedFont>
    <p:embeddedFont>
      <p:font typeface="Verdana" panose="020B060403050404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3180" y="6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75254" y="890561"/>
            <a:ext cx="2478433" cy="3323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1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mbria"/>
                <a:cs typeface="Cambria"/>
              </a:rPr>
              <a:t>A</a:t>
            </a:r>
            <a:r>
              <a:rPr sz="2000" spc="127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000000"/>
                </a:solidFill>
                <a:latin typeface="Cambria"/>
                <a:cs typeface="Cambria"/>
              </a:rPr>
              <a:t>Project</a:t>
            </a:r>
            <a:r>
              <a:rPr sz="2000" spc="37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81" dirty="0">
                <a:solidFill>
                  <a:srgbClr val="000000"/>
                </a:solidFill>
                <a:latin typeface="Cambria"/>
                <a:cs typeface="Cambria"/>
              </a:rPr>
              <a:t>Report</a:t>
            </a:r>
            <a:r>
              <a:rPr sz="2000" spc="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000000"/>
                </a:solidFill>
                <a:latin typeface="Cambria"/>
                <a:cs typeface="Cambria"/>
              </a:rPr>
              <a:t>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54145" y="875565"/>
            <a:ext cx="57530" cy="6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"/>
              </a:lnSpc>
              <a:spcBef>
                <a:spcPts val="0"/>
              </a:spcBef>
              <a:spcAft>
                <a:spcPts val="0"/>
              </a:spcAft>
            </a:pPr>
            <a:r>
              <a:rPr sz="200" spc="-15" dirty="0">
                <a:solidFill>
                  <a:srgbClr val="000000"/>
                </a:solidFill>
                <a:latin typeface="Times New Roman"/>
                <a:cs typeface="Times New Roman"/>
              </a:rPr>
              <a:t>1.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56842" y="1327867"/>
            <a:ext cx="4405762" cy="306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sng" dirty="0">
                <a:solidFill>
                  <a:srgbClr val="000000"/>
                </a:solidFill>
                <a:latin typeface="Cambria"/>
                <a:cs typeface="Cambria"/>
              </a:rPr>
              <a:t>Student attendance management 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40433" y="1900973"/>
            <a:ext cx="4831565" cy="7575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068" marR="0">
              <a:lnSpc>
                <a:spcPts val="2316"/>
              </a:lnSpc>
              <a:spcBef>
                <a:spcPts val="0"/>
              </a:spcBef>
              <a:spcAft>
                <a:spcPts val="0"/>
              </a:spcAft>
            </a:pPr>
            <a:r>
              <a:rPr sz="2000" spc="76" dirty="0">
                <a:solidFill>
                  <a:srgbClr val="000000"/>
                </a:solidFill>
                <a:latin typeface="Cambria"/>
                <a:cs typeface="Cambria"/>
              </a:rPr>
              <a:t>Submitted</a:t>
            </a:r>
            <a:r>
              <a:rPr sz="2000" spc="41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46" dirty="0">
                <a:solidFill>
                  <a:srgbClr val="000000"/>
                </a:solidFill>
                <a:latin typeface="Cambria"/>
                <a:cs typeface="Cambria"/>
              </a:rPr>
              <a:t>in</a:t>
            </a:r>
            <a:r>
              <a:rPr sz="2000" spc="83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67" dirty="0">
                <a:solidFill>
                  <a:srgbClr val="000000"/>
                </a:solidFill>
                <a:latin typeface="Cambria"/>
                <a:cs typeface="Cambria"/>
              </a:rPr>
              <a:t>partial</a:t>
            </a:r>
            <a:r>
              <a:rPr sz="20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64" dirty="0">
                <a:solidFill>
                  <a:srgbClr val="000000"/>
                </a:solidFill>
                <a:latin typeface="Cambria"/>
                <a:cs typeface="Cambria"/>
              </a:rPr>
              <a:t>fulfillment</a:t>
            </a:r>
            <a:r>
              <a:rPr sz="2000" spc="3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81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0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72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</a:p>
          <a:p>
            <a:pPr marL="0" marR="0">
              <a:lnSpc>
                <a:spcPts val="2316"/>
              </a:lnSpc>
              <a:spcBef>
                <a:spcPts val="1081"/>
              </a:spcBef>
              <a:spcAft>
                <a:spcPts val="0"/>
              </a:spcAft>
            </a:pPr>
            <a:r>
              <a:rPr sz="2000" spc="79" dirty="0">
                <a:solidFill>
                  <a:srgbClr val="000000"/>
                </a:solidFill>
                <a:latin typeface="Cambria"/>
                <a:cs typeface="Cambria"/>
              </a:rPr>
              <a:t>requirement</a:t>
            </a:r>
            <a:r>
              <a:rPr sz="200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63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2000" spc="-18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000" spc="-11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86" dirty="0">
                <a:solidFill>
                  <a:srgbClr val="000000"/>
                </a:solidFill>
                <a:latin typeface="Cambria"/>
                <a:cs typeface="Cambria"/>
              </a:rPr>
              <a:t>award</a:t>
            </a:r>
            <a:r>
              <a:rPr sz="2000" spc="-23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91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000" spc="-56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000" spc="-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000000"/>
                </a:solidFill>
                <a:latin typeface="Cambria"/>
                <a:cs typeface="Cambria"/>
              </a:rPr>
              <a:t>degree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6080" y="3031612"/>
            <a:ext cx="5204132" cy="348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100" spc="86" dirty="0">
                <a:solidFill>
                  <a:srgbClr val="000000"/>
                </a:solidFill>
                <a:latin typeface="Cambria"/>
                <a:cs typeface="Cambria"/>
              </a:rPr>
              <a:t>Bachelor</a:t>
            </a:r>
            <a:r>
              <a:rPr sz="2100" spc="157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100" spc="97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100" spc="12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100" spc="97" dirty="0">
                <a:solidFill>
                  <a:srgbClr val="000000"/>
                </a:solidFill>
                <a:latin typeface="Cambria"/>
                <a:cs typeface="Cambria"/>
              </a:rPr>
              <a:t>Computer</a:t>
            </a:r>
            <a:r>
              <a:rPr sz="2100" spc="158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100" spc="77" dirty="0">
                <a:solidFill>
                  <a:srgbClr val="000000"/>
                </a:solidFill>
                <a:latin typeface="Cambria"/>
                <a:cs typeface="Cambria"/>
              </a:rPr>
              <a:t>Application</a:t>
            </a:r>
            <a:r>
              <a:rPr sz="2100" spc="196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100" spc="76" dirty="0">
                <a:solidFill>
                  <a:srgbClr val="000000"/>
                </a:solidFill>
                <a:latin typeface="Cambria"/>
                <a:cs typeface="Cambria"/>
              </a:rPr>
              <a:t>(BCA)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72563" y="3713042"/>
            <a:ext cx="2769379" cy="298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53"/>
              </a:lnSpc>
              <a:spcBef>
                <a:spcPts val="0"/>
              </a:spcBef>
              <a:spcAft>
                <a:spcPts val="0"/>
              </a:spcAft>
            </a:pPr>
            <a:r>
              <a:rPr sz="1750" spc="87" dirty="0">
                <a:solidFill>
                  <a:srgbClr val="000000"/>
                </a:solidFill>
                <a:latin typeface="Cambria"/>
                <a:cs typeface="Cambria"/>
              </a:rPr>
              <a:t>Academic</a:t>
            </a:r>
            <a:r>
              <a:rPr sz="17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750" spc="87" dirty="0">
                <a:solidFill>
                  <a:srgbClr val="000000"/>
                </a:solidFill>
                <a:latin typeface="Cambria"/>
                <a:cs typeface="Cambria"/>
              </a:rPr>
              <a:t>Year</a:t>
            </a:r>
            <a:r>
              <a:rPr sz="17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750" spc="94" dirty="0">
                <a:solidFill>
                  <a:srgbClr val="000000"/>
                </a:solidFill>
                <a:latin typeface="Cambria"/>
                <a:cs typeface="Cambria"/>
              </a:rPr>
              <a:t>2026</a:t>
            </a:r>
            <a:r>
              <a:rPr sz="1750" dirty="0">
                <a:solidFill>
                  <a:srgbClr val="000000"/>
                </a:solidFill>
                <a:latin typeface="Cambria"/>
                <a:cs typeface="Cambria"/>
              </a:rPr>
              <a:t> –</a:t>
            </a:r>
            <a:r>
              <a:rPr sz="1750" spc="108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750" spc="62" dirty="0">
                <a:solidFill>
                  <a:srgbClr val="000000"/>
                </a:solidFill>
                <a:latin typeface="Cambria"/>
                <a:cs typeface="Cambria"/>
              </a:rPr>
              <a:t>27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15110" y="4564243"/>
            <a:ext cx="1525319" cy="454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872" marR="0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ambria"/>
                <a:cs typeface="Cambria"/>
              </a:rPr>
              <a:t>&lt;Nikhil maru&gt;</a:t>
            </a:r>
          </a:p>
          <a:p>
            <a:pPr marL="0" marR="0">
              <a:lnSpc>
                <a:spcPts val="1631"/>
              </a:lnSpc>
              <a:spcBef>
                <a:spcPts val="5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ambria"/>
                <a:cs typeface="Cambria"/>
              </a:rPr>
              <a:t>&lt;92300527258&gt;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15147" y="4564243"/>
            <a:ext cx="1688902" cy="454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ambria"/>
                <a:cs typeface="Cambria"/>
              </a:rPr>
              <a:t>&lt;Darshan kannar&gt;</a:t>
            </a:r>
          </a:p>
          <a:p>
            <a:pPr marL="22463" marR="0">
              <a:lnSpc>
                <a:spcPts val="1631"/>
              </a:lnSpc>
              <a:spcBef>
                <a:spcPts val="5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ambria"/>
                <a:cs typeface="Cambria"/>
              </a:rPr>
              <a:t>&lt;92300527139&gt;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25516" y="4564243"/>
            <a:ext cx="1721430" cy="454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ambria"/>
                <a:cs typeface="Cambria"/>
              </a:rPr>
              <a:t>&lt;Darshan humbal&gt;</a:t>
            </a:r>
          </a:p>
          <a:p>
            <a:pPr marL="50673" marR="0">
              <a:lnSpc>
                <a:spcPts val="1631"/>
              </a:lnSpc>
              <a:spcBef>
                <a:spcPts val="5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ambria"/>
                <a:cs typeface="Cambria"/>
              </a:rPr>
              <a:t>&lt;92300527140&gt;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13126" y="7139826"/>
            <a:ext cx="2900525" cy="611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0248" marR="0">
              <a:lnSpc>
                <a:spcPts val="2403"/>
              </a:lnSpc>
              <a:spcBef>
                <a:spcPts val="0"/>
              </a:spcBef>
              <a:spcAft>
                <a:spcPts val="0"/>
              </a:spcAft>
            </a:pPr>
            <a:r>
              <a:rPr sz="2050" b="1" u="sng" spc="56" dirty="0">
                <a:solidFill>
                  <a:srgbClr val="000000"/>
                </a:solidFill>
                <a:latin typeface="Cambria"/>
                <a:cs typeface="Cambria"/>
              </a:rPr>
              <a:t>Internal</a:t>
            </a:r>
            <a:r>
              <a:rPr sz="2050" b="1" u="sng" spc="-4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50" b="1" u="sng" spc="62" dirty="0">
                <a:solidFill>
                  <a:srgbClr val="000000"/>
                </a:solidFill>
                <a:latin typeface="Cambria"/>
                <a:cs typeface="Cambria"/>
              </a:rPr>
              <a:t>Guide</a:t>
            </a:r>
          </a:p>
          <a:p>
            <a:pPr marL="0" marR="0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850" spc="82" dirty="0">
                <a:solidFill>
                  <a:srgbClr val="000000"/>
                </a:solidFill>
                <a:latin typeface="Cambria"/>
                <a:cs typeface="Cambria"/>
              </a:rPr>
              <a:t>(Prof.Vipul</a:t>
            </a:r>
            <a:r>
              <a:rPr sz="1850" spc="18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850" spc="100" dirty="0">
                <a:solidFill>
                  <a:srgbClr val="000000"/>
                </a:solidFill>
                <a:latin typeface="Cambria"/>
                <a:cs typeface="Cambria"/>
              </a:rPr>
              <a:t>Bambhaniya)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8A716C-2DDB-A953-9ECC-0112733A6CD8}"/>
              </a:ext>
            </a:extLst>
          </p:cNvPr>
          <p:cNvSpPr txBox="1"/>
          <p:nvPr/>
        </p:nvSpPr>
        <p:spPr>
          <a:xfrm>
            <a:off x="400225" y="5597671"/>
            <a:ext cx="6768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link:-https://github.com/darshan170404/student-attendance-management-sysem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"/>
          <p:cNvSpPr/>
          <p:nvPr/>
        </p:nvSpPr>
        <p:spPr>
          <a:xfrm>
            <a:off x="1882775" y="913904"/>
            <a:ext cx="3741420" cy="1062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2688589" y="3135248"/>
            <a:ext cx="2334006" cy="7327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5268" y="9707371"/>
            <a:ext cx="1778761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9548" y="2584198"/>
            <a:ext cx="5938550" cy="373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 spc="75" dirty="0">
                <a:solidFill>
                  <a:srgbClr val="000000"/>
                </a:solidFill>
                <a:latin typeface="Cambria"/>
                <a:cs typeface="Cambria"/>
              </a:rPr>
              <a:t>Faculty</a:t>
            </a:r>
            <a:r>
              <a:rPr sz="2250" b="1" spc="198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50" b="1" spc="87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250" b="1" spc="1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50" b="1" spc="94" dirty="0">
                <a:solidFill>
                  <a:srgbClr val="000000"/>
                </a:solidFill>
                <a:latin typeface="Cambria"/>
                <a:cs typeface="Cambria"/>
              </a:rPr>
              <a:t>Computer</a:t>
            </a:r>
            <a:r>
              <a:rPr sz="2250" b="1" spc="16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50" b="1" spc="79" dirty="0">
                <a:solidFill>
                  <a:srgbClr val="000000"/>
                </a:solidFill>
                <a:latin typeface="Cambria"/>
                <a:cs typeface="Cambria"/>
              </a:rPr>
              <a:t>Applications</a:t>
            </a:r>
            <a:r>
              <a:rPr sz="2250" b="1" spc="186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50" b="1" spc="79" dirty="0">
                <a:solidFill>
                  <a:srgbClr val="000000"/>
                </a:solidFill>
                <a:latin typeface="Cambria"/>
                <a:cs typeface="Cambria"/>
              </a:rPr>
              <a:t>(FoCA)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29994" y="4160827"/>
            <a:ext cx="4369124" cy="29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2"/>
              </a:lnSpc>
              <a:spcBef>
                <a:spcPts val="0"/>
              </a:spcBef>
              <a:spcAft>
                <a:spcPts val="0"/>
              </a:spcAft>
            </a:pPr>
            <a:r>
              <a:rPr sz="1800" spc="-41" dirty="0">
                <a:solidFill>
                  <a:srgbClr val="000000"/>
                </a:solidFill>
                <a:latin typeface="Arial"/>
                <a:cs typeface="Arial"/>
              </a:rPr>
              <a:t>This</a:t>
            </a:r>
            <a:r>
              <a:rPr sz="180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1800" spc="-11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sz="1800" spc="-11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34" dirty="0">
                <a:solidFill>
                  <a:srgbClr val="000000"/>
                </a:solidFill>
                <a:latin typeface="Arial"/>
                <a:cs typeface="Arial"/>
              </a:rPr>
              <a:t>certify</a:t>
            </a:r>
            <a:r>
              <a:rPr sz="1800" spc="-8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41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sz="180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37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1800" spc="-9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43" dirty="0">
                <a:solidFill>
                  <a:srgbClr val="000000"/>
                </a:solidFill>
                <a:latin typeface="Arial"/>
                <a:cs typeface="Arial"/>
              </a:rPr>
              <a:t>project</a:t>
            </a:r>
            <a:r>
              <a:rPr sz="1800" spc="-6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47" dirty="0">
                <a:solidFill>
                  <a:srgbClr val="000000"/>
                </a:solidFill>
                <a:latin typeface="Arial"/>
                <a:cs typeface="Arial"/>
              </a:rPr>
              <a:t>work</a:t>
            </a:r>
            <a:r>
              <a:rPr sz="180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44" dirty="0">
                <a:solidFill>
                  <a:srgbClr val="000000"/>
                </a:solidFill>
                <a:latin typeface="Arial"/>
                <a:cs typeface="Arial"/>
              </a:rPr>
              <a:t>entitled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97402" y="4501009"/>
            <a:ext cx="1518178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Translator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99286" y="4904539"/>
            <a:ext cx="5029053" cy="621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2"/>
              </a:lnSpc>
              <a:spcBef>
                <a:spcPts val="0"/>
              </a:spcBef>
              <a:spcAft>
                <a:spcPts val="0"/>
              </a:spcAft>
            </a:pPr>
            <a:r>
              <a:rPr sz="1800" spc="-43" dirty="0">
                <a:solidFill>
                  <a:srgbClr val="000000"/>
                </a:solidFill>
                <a:latin typeface="Arial"/>
                <a:cs typeface="Arial"/>
              </a:rPr>
              <a:t>submitted</a:t>
            </a:r>
            <a:r>
              <a:rPr sz="1800" spc="-9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1800" spc="-12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38" dirty="0">
                <a:solidFill>
                  <a:srgbClr val="000000"/>
                </a:solidFill>
                <a:latin typeface="Arial"/>
                <a:cs typeface="Arial"/>
              </a:rPr>
              <a:t>partial</a:t>
            </a:r>
            <a:r>
              <a:rPr sz="1800" spc="-6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37" dirty="0">
                <a:solidFill>
                  <a:srgbClr val="000000"/>
                </a:solidFill>
                <a:latin typeface="Arial"/>
                <a:cs typeface="Arial"/>
              </a:rPr>
              <a:t>fulfillment</a:t>
            </a:r>
            <a:r>
              <a:rPr sz="1800" spc="-6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64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1800" spc="-4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37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1800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46" dirty="0">
                <a:solidFill>
                  <a:srgbClr val="000000"/>
                </a:solidFill>
                <a:latin typeface="Arial"/>
                <a:cs typeface="Arial"/>
              </a:rPr>
              <a:t>requirement</a:t>
            </a:r>
            <a:r>
              <a:rPr sz="180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43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</a:p>
          <a:p>
            <a:pPr marL="1132712" marR="0">
              <a:lnSpc>
                <a:spcPts val="2118"/>
              </a:lnSpc>
              <a:spcBef>
                <a:spcPts val="459"/>
              </a:spcBef>
              <a:spcAft>
                <a:spcPts val="0"/>
              </a:spcAft>
            </a:pPr>
            <a:r>
              <a:rPr sz="1900" spc="-61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190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spc="-61" dirty="0">
                <a:solidFill>
                  <a:srgbClr val="000000"/>
                </a:solidFill>
                <a:latin typeface="Arial"/>
                <a:cs typeface="Arial"/>
              </a:rPr>
              <a:t>award</a:t>
            </a:r>
            <a:r>
              <a:rPr sz="190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spc="-61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1900" spc="-6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spc="-61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190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spc="-60" dirty="0">
                <a:solidFill>
                  <a:srgbClr val="000000"/>
                </a:solidFill>
                <a:latin typeface="Arial"/>
                <a:cs typeface="Arial"/>
              </a:rPr>
              <a:t>degree</a:t>
            </a:r>
            <a:r>
              <a:rPr sz="1900" spc="-6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spc="-61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25777" y="5565015"/>
            <a:ext cx="4660878" cy="69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Bachelor</a:t>
            </a:r>
            <a:r>
              <a:rPr sz="2200" b="1" spc="-3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200" b="1" spc="-2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Computer </a:t>
            </a:r>
            <a:r>
              <a:rPr sz="2200" b="1" spc="-10" dirty="0">
                <a:solidFill>
                  <a:srgbClr val="000000"/>
                </a:solidFill>
                <a:latin typeface="Arial"/>
                <a:cs typeface="Arial"/>
              </a:rPr>
              <a:t>Application</a:t>
            </a:r>
          </a:p>
          <a:p>
            <a:pPr marL="2028825" marR="0">
              <a:lnSpc>
                <a:spcPts val="2118"/>
              </a:lnSpc>
              <a:spcBef>
                <a:spcPts val="638"/>
              </a:spcBef>
              <a:spcAft>
                <a:spcPts val="0"/>
              </a:spcAft>
            </a:pPr>
            <a:r>
              <a:rPr sz="1800" spc="-52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57323" y="6306978"/>
            <a:ext cx="2799459" cy="364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7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dirty="0">
                <a:solidFill>
                  <a:srgbClr val="000000"/>
                </a:solidFill>
                <a:latin typeface="Arial"/>
                <a:cs typeface="Arial"/>
              </a:rPr>
              <a:t>Marwadi</a:t>
            </a:r>
            <a:r>
              <a:rPr sz="2300" b="1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000000"/>
                </a:solidFill>
                <a:latin typeface="Arial"/>
                <a:cs typeface="Arial"/>
              </a:rPr>
              <a:t>University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01038" y="6730545"/>
            <a:ext cx="4426865" cy="29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2"/>
              </a:lnSpc>
              <a:spcBef>
                <a:spcPts val="0"/>
              </a:spcBef>
              <a:spcAft>
                <a:spcPts val="0"/>
              </a:spcAft>
            </a:pPr>
            <a:r>
              <a:rPr sz="1800" spc="-15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1800" spc="-11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1800" spc="-13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38" dirty="0">
                <a:solidFill>
                  <a:srgbClr val="000000"/>
                </a:solidFill>
                <a:latin typeface="Arial"/>
                <a:cs typeface="Arial"/>
              </a:rPr>
              <a:t>result</a:t>
            </a:r>
            <a:r>
              <a:rPr sz="1800" spc="-6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52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1800" spc="-4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37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1800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44" dirty="0">
                <a:solidFill>
                  <a:srgbClr val="000000"/>
                </a:solidFill>
                <a:latin typeface="Arial"/>
                <a:cs typeface="Arial"/>
              </a:rPr>
              <a:t>Bonafide</a:t>
            </a:r>
            <a:r>
              <a:rPr sz="1800" spc="-8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47" dirty="0">
                <a:solidFill>
                  <a:srgbClr val="000000"/>
                </a:solidFill>
                <a:latin typeface="Arial"/>
                <a:cs typeface="Arial"/>
              </a:rPr>
              <a:t>work</a:t>
            </a:r>
            <a:r>
              <a:rPr sz="1800" spc="-7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38" dirty="0">
                <a:solidFill>
                  <a:srgbClr val="000000"/>
                </a:solidFill>
                <a:latin typeface="Arial"/>
                <a:cs typeface="Arial"/>
              </a:rPr>
              <a:t>carried</a:t>
            </a:r>
            <a:r>
              <a:rPr sz="1800" spc="-8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52" dirty="0">
                <a:solidFill>
                  <a:srgbClr val="000000"/>
                </a:solidFill>
                <a:latin typeface="Arial"/>
                <a:cs typeface="Arial"/>
              </a:rPr>
              <a:t>out</a:t>
            </a:r>
            <a:r>
              <a:rPr sz="1800" spc="-5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76" dirty="0">
                <a:solidFill>
                  <a:srgbClr val="000000"/>
                </a:solidFill>
                <a:latin typeface="Arial"/>
                <a:cs typeface="Arial"/>
              </a:rPr>
              <a:t>by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28241" y="7070727"/>
            <a:ext cx="1786929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200" b="1" spc="-3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mbria"/>
                <a:cs typeface="Cambria"/>
              </a:rPr>
              <a:t>Nikhil</a:t>
            </a:r>
            <a:r>
              <a:rPr sz="2000" b="1" spc="-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mbria"/>
                <a:cs typeface="Cambria"/>
              </a:rPr>
              <a:t>maru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693540" y="7070727"/>
            <a:ext cx="2159169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000000"/>
                </a:solidFill>
                <a:latin typeface="Cambria"/>
                <a:cs typeface="Cambria"/>
              </a:rPr>
              <a:t>92300527258</a:t>
            </a:r>
            <a:r>
              <a:rPr sz="2200" b="1" spc="-12" dirty="0">
                <a:solidFill>
                  <a:srgbClr val="000000"/>
                </a:solidFill>
                <a:latin typeface="Arial"/>
                <a:cs typeface="Arial"/>
              </a:rPr>
              <a:t>)&gt;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28241" y="7480728"/>
            <a:ext cx="4589581" cy="365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74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200" b="1" spc="-3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mbria"/>
                <a:cs typeface="Cambria"/>
              </a:rPr>
              <a:t>Darshan kannar</a:t>
            </a:r>
            <a:r>
              <a:rPr sz="2000" b="1" spc="663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sz="2200" b="1" dirty="0">
                <a:solidFill>
                  <a:srgbClr val="000000"/>
                </a:solidFill>
                <a:latin typeface="Cambria"/>
                <a:cs typeface="Cambria"/>
              </a:rPr>
              <a:t>92300527139</a:t>
            </a: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)&gt;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28241" y="7905924"/>
            <a:ext cx="4583484" cy="365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74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200" b="1" spc="-3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mbria"/>
                <a:cs typeface="Cambria"/>
              </a:rPr>
              <a:t>Darshan Humbal </a:t>
            </a: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sz="2200" b="1" dirty="0">
                <a:solidFill>
                  <a:srgbClr val="000000"/>
                </a:solidFill>
                <a:latin typeface="Cambria"/>
                <a:cs typeface="Cambria"/>
              </a:rPr>
              <a:t>92300527140</a:t>
            </a: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)&gt;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23898" y="8573442"/>
            <a:ext cx="3393189" cy="29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2"/>
              </a:lnSpc>
              <a:spcBef>
                <a:spcPts val="0"/>
              </a:spcBef>
              <a:spcAft>
                <a:spcPts val="0"/>
              </a:spcAft>
            </a:pPr>
            <a:r>
              <a:rPr sz="1800" spc="-50" dirty="0">
                <a:solidFill>
                  <a:srgbClr val="000000"/>
                </a:solidFill>
                <a:latin typeface="Arial"/>
                <a:cs typeface="Arial"/>
              </a:rPr>
              <a:t>during</a:t>
            </a:r>
            <a:r>
              <a:rPr sz="1800" spc="-6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47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1800" spc="-7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57" dirty="0">
                <a:solidFill>
                  <a:srgbClr val="000000"/>
                </a:solidFill>
                <a:latin typeface="Arial"/>
                <a:cs typeface="Arial"/>
              </a:rPr>
              <a:t>academic</a:t>
            </a:r>
            <a:r>
              <a:rPr sz="1800" spc="-5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63" dirty="0">
                <a:solidFill>
                  <a:srgbClr val="000000"/>
                </a:solidFill>
                <a:latin typeface="Arial"/>
                <a:cs typeface="Arial"/>
              </a:rPr>
              <a:t>year</a:t>
            </a:r>
            <a:r>
              <a:rPr sz="1800" spc="-2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57" dirty="0">
                <a:solidFill>
                  <a:srgbClr val="000000"/>
                </a:solidFill>
                <a:latin typeface="Arial"/>
                <a:cs typeface="Arial"/>
              </a:rPr>
              <a:t>2025-26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09548" y="9424092"/>
            <a:ext cx="5953126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4"/>
              </a:lnSpc>
              <a:spcBef>
                <a:spcPts val="0"/>
              </a:spcBef>
              <a:spcAft>
                <a:spcPts val="0"/>
              </a:spcAft>
            </a:pPr>
            <a:r>
              <a:rPr sz="1850" spc="91" dirty="0">
                <a:solidFill>
                  <a:srgbClr val="000000"/>
                </a:solidFill>
                <a:latin typeface="Cambria"/>
                <a:cs typeface="Cambria"/>
              </a:rPr>
              <a:t>Vipul</a:t>
            </a:r>
            <a:r>
              <a:rPr sz="1850" spc="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850" spc="103" dirty="0">
                <a:solidFill>
                  <a:srgbClr val="000000"/>
                </a:solidFill>
                <a:latin typeface="Cambria"/>
                <a:cs typeface="Cambria"/>
              </a:rPr>
              <a:t>Bambhaniya</a:t>
            </a:r>
            <a:r>
              <a:rPr sz="1850" spc="471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Arial"/>
                <a:cs typeface="Arial"/>
              </a:rPr>
              <a:t>Dr.Sunil</a:t>
            </a:r>
            <a:r>
              <a:rPr sz="2000" u="sng" spc="-1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Arial"/>
                <a:cs typeface="Arial"/>
              </a:rPr>
              <a:t>Bajeja</a:t>
            </a:r>
            <a:r>
              <a:rPr sz="2000" u="sng" spc="-8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spc="173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Arial"/>
                <a:cs typeface="Arial"/>
              </a:rPr>
              <a:t>Dr. R</a:t>
            </a:r>
            <a:r>
              <a:rPr sz="2000" u="sng" spc="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Arial"/>
                <a:cs typeface="Arial"/>
              </a:rPr>
              <a:t>Sridaran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63116" y="9715923"/>
            <a:ext cx="1306750" cy="2490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1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00"/>
                </a:solidFill>
                <a:latin typeface="Times New Roman"/>
                <a:cs typeface="Times New Roman"/>
              </a:rPr>
              <a:t>Faculty</a:t>
            </a:r>
            <a:r>
              <a:rPr sz="1500" b="1" spc="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b="1" spc="-11" dirty="0">
                <a:solidFill>
                  <a:srgbClr val="000000"/>
                </a:solidFill>
                <a:latin typeface="Times New Roman"/>
                <a:cs typeface="Times New Roman"/>
              </a:rPr>
              <a:t>Guide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594227" y="9715923"/>
            <a:ext cx="586327" cy="2490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1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-27" dirty="0">
                <a:solidFill>
                  <a:srgbClr val="000000"/>
                </a:solidFill>
                <a:latin typeface="Times New Roman"/>
                <a:cs typeface="Times New Roman"/>
              </a:rPr>
              <a:t>HOD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643117" y="9715923"/>
            <a:ext cx="575722" cy="2490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1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Dean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929763" y="1883917"/>
            <a:ext cx="186712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sng" spc="-10" dirty="0">
                <a:solidFill>
                  <a:srgbClr val="000000"/>
                </a:solidFill>
                <a:latin typeface="Times New Roman"/>
                <a:cs typeface="Times New Roman"/>
              </a:rPr>
              <a:t>DECLARATION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8440" y="2749759"/>
            <a:ext cx="5547274" cy="574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731" marR="0">
              <a:lnSpc>
                <a:spcPts val="211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I/We</a:t>
            </a:r>
            <a:r>
              <a:rPr sz="1300" spc="21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hereby</a:t>
            </a:r>
            <a:r>
              <a:rPr sz="1300" spc="46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declare</a:t>
            </a:r>
            <a:r>
              <a:rPr sz="1300" spc="3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that</a:t>
            </a:r>
            <a:r>
              <a:rPr sz="1300" spc="4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this</a:t>
            </a:r>
            <a:r>
              <a:rPr sz="1300" spc="-37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project</a:t>
            </a:r>
            <a:r>
              <a:rPr sz="1300" spc="-3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work</a:t>
            </a:r>
            <a:r>
              <a:rPr sz="1300" spc="-23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entitled </a:t>
            </a:r>
            <a:r>
              <a:rPr sz="1800" b="1" u="sng" dirty="0">
                <a:solidFill>
                  <a:srgbClr val="000000"/>
                </a:solidFill>
                <a:latin typeface="Cambria"/>
                <a:cs typeface="Cambria"/>
              </a:rPr>
              <a:t>Student</a:t>
            </a:r>
          </a:p>
          <a:p>
            <a:pPr marL="0" marR="0">
              <a:lnSpc>
                <a:spcPts val="2110"/>
              </a:lnSpc>
              <a:spcBef>
                <a:spcPts val="4"/>
              </a:spcBef>
              <a:spcAft>
                <a:spcPts val="0"/>
              </a:spcAft>
            </a:pPr>
            <a:r>
              <a:rPr sz="1800" b="1" u="sng" dirty="0">
                <a:solidFill>
                  <a:srgbClr val="000000"/>
                </a:solidFill>
                <a:latin typeface="Cambria"/>
                <a:cs typeface="Cambria"/>
              </a:rPr>
              <a:t>attendance management system</a:t>
            </a:r>
            <a:r>
              <a:rPr sz="1800" b="1" u="sng" spc="31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is</a:t>
            </a:r>
            <a:r>
              <a:rPr sz="1300" spc="-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a</a:t>
            </a:r>
            <a:r>
              <a:rPr sz="1300" spc="-1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record</a:t>
            </a:r>
            <a:r>
              <a:rPr sz="1300" spc="-1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done</a:t>
            </a:r>
            <a:r>
              <a:rPr sz="1300" spc="-2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by</a:t>
            </a:r>
            <a:r>
              <a:rPr sz="1300" spc="-2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spc="-28" dirty="0">
                <a:solidFill>
                  <a:srgbClr val="000000"/>
                </a:solidFill>
                <a:latin typeface="Verdana"/>
                <a:cs typeface="Verdana"/>
              </a:rPr>
              <a:t>me.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4704" y="3571499"/>
            <a:ext cx="5883477" cy="114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I</a:t>
            </a:r>
            <a:r>
              <a:rPr sz="1300" spc="-11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also</a:t>
            </a:r>
            <a:r>
              <a:rPr sz="1300" spc="-98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declare</a:t>
            </a:r>
            <a:r>
              <a:rPr sz="1300" spc="-113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that</a:t>
            </a:r>
            <a:r>
              <a:rPr sz="1300" spc="-9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the</a:t>
            </a:r>
            <a:r>
              <a:rPr sz="1300" spc="-112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matter</a:t>
            </a:r>
            <a:r>
              <a:rPr sz="1300" spc="-112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embodied</a:t>
            </a:r>
            <a:r>
              <a:rPr sz="1300" spc="-102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in</a:t>
            </a:r>
            <a:r>
              <a:rPr sz="1300" spc="-116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this</a:t>
            </a:r>
            <a:r>
              <a:rPr sz="1300" spc="-101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project</a:t>
            </a:r>
            <a:r>
              <a:rPr sz="1300" spc="-9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is</a:t>
            </a:r>
            <a:r>
              <a:rPr sz="1300" spc="-9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genuine</a:t>
            </a:r>
            <a:r>
              <a:rPr sz="1300" spc="-102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work</a:t>
            </a:r>
          </a:p>
          <a:p>
            <a:pPr marL="0" marR="0">
              <a:lnSpc>
                <a:spcPts val="1575"/>
              </a:lnSpc>
              <a:spcBef>
                <a:spcPts val="80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done</a:t>
            </a:r>
            <a:r>
              <a:rPr sz="1300" spc="-43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by</a:t>
            </a:r>
            <a:r>
              <a:rPr sz="1300" spc="-5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me</a:t>
            </a:r>
            <a:r>
              <a:rPr sz="1300" spc="-6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and</a:t>
            </a:r>
            <a:r>
              <a:rPr sz="1300" spc="-56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has</a:t>
            </a:r>
            <a:r>
              <a:rPr sz="1300" spc="-5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not</a:t>
            </a:r>
            <a:r>
              <a:rPr sz="1300" spc="-43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been</a:t>
            </a:r>
            <a:r>
              <a:rPr sz="1300" spc="-56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submitted</a:t>
            </a:r>
            <a:r>
              <a:rPr sz="1300" spc="-5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whether</a:t>
            </a:r>
            <a:r>
              <a:rPr sz="1300" spc="-5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to</a:t>
            </a:r>
            <a:r>
              <a:rPr sz="1300" spc="-49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this</a:t>
            </a:r>
            <a:r>
              <a:rPr sz="1300" spc="-5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University</a:t>
            </a:r>
            <a:r>
              <a:rPr sz="1300" spc="-5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or</a:t>
            </a:r>
          </a:p>
          <a:p>
            <a:pPr marL="0" marR="0">
              <a:lnSpc>
                <a:spcPts val="1575"/>
              </a:lnSpc>
              <a:spcBef>
                <a:spcPts val="738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to</a:t>
            </a:r>
            <a:r>
              <a:rPr sz="1300" spc="692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any</a:t>
            </a:r>
            <a:r>
              <a:rPr sz="1300" spc="6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other</a:t>
            </a:r>
            <a:r>
              <a:rPr sz="1300" spc="6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University</a:t>
            </a:r>
            <a:r>
              <a:rPr sz="1300" spc="70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/</a:t>
            </a:r>
            <a:r>
              <a:rPr sz="1300" spc="703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Institute</a:t>
            </a:r>
            <a:r>
              <a:rPr sz="1300" spc="688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for</a:t>
            </a:r>
            <a:r>
              <a:rPr sz="1300" spc="6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the</a:t>
            </a:r>
            <a:r>
              <a:rPr sz="1300" spc="696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fulfillment</a:t>
            </a:r>
            <a:r>
              <a:rPr sz="1300" spc="698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1300" spc="701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the</a:t>
            </a:r>
          </a:p>
          <a:p>
            <a:pPr marL="0" marR="0">
              <a:lnSpc>
                <a:spcPts val="1575"/>
              </a:lnSpc>
              <a:spcBef>
                <a:spcPts val="80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requirement of any course</a:t>
            </a:r>
            <a:r>
              <a:rPr sz="1300" spc="-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000000"/>
                </a:solidFill>
                <a:latin typeface="Verdana"/>
                <a:cs typeface="Verdana"/>
              </a:rPr>
              <a:t>of study.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4704" y="5869871"/>
            <a:ext cx="1292615" cy="254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6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Verdana"/>
                <a:cs typeface="Verdana"/>
              </a:rPr>
              <a:t>Place:</a:t>
            </a:r>
            <a:r>
              <a:rPr sz="1400" spc="-87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400" spc="-47" dirty="0">
                <a:solidFill>
                  <a:srgbClr val="000000"/>
                </a:solidFill>
                <a:latin typeface="Verdana"/>
                <a:cs typeface="Verdana"/>
              </a:rPr>
              <a:t>Rajkot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9548" y="6383403"/>
            <a:ext cx="1682855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200" spc="-3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00"/>
                </a:solidFill>
                <a:latin typeface="Cambria"/>
                <a:cs typeface="Cambria"/>
              </a:rPr>
              <a:t>Nikhil maru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90723" y="6383403"/>
            <a:ext cx="2051177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sz="2000" dirty="0">
                <a:solidFill>
                  <a:srgbClr val="000000"/>
                </a:solidFill>
                <a:latin typeface="Cambria"/>
                <a:cs typeface="Cambria"/>
              </a:rPr>
              <a:t>92300527258</a:t>
            </a:r>
            <a:r>
              <a:rPr sz="2200" spc="-12" dirty="0">
                <a:solidFill>
                  <a:srgbClr val="000000"/>
                </a:solidFill>
                <a:latin typeface="Arial"/>
                <a:cs typeface="Arial"/>
              </a:rPr>
              <a:t>)&gt;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9548" y="6793023"/>
            <a:ext cx="4386452" cy="365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74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200" spc="-3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00"/>
                </a:solidFill>
                <a:latin typeface="Cambria"/>
                <a:cs typeface="Cambria"/>
              </a:rPr>
              <a:t>Darshan</a:t>
            </a:r>
            <a:r>
              <a:rPr sz="2000" spc="-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0000"/>
                </a:solidFill>
                <a:latin typeface="Cambria"/>
                <a:cs typeface="Cambria"/>
              </a:rPr>
              <a:t>kannar</a:t>
            </a:r>
            <a:r>
              <a:rPr sz="2000" spc="1223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92300527139</a:t>
            </a:r>
            <a:r>
              <a:rPr sz="2200" spc="-12" dirty="0">
                <a:solidFill>
                  <a:srgbClr val="000000"/>
                </a:solidFill>
                <a:latin typeface="Arial"/>
                <a:cs typeface="Arial"/>
              </a:rPr>
              <a:t>)&gt;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9548" y="7218600"/>
            <a:ext cx="4375789" cy="365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74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200" spc="-3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00"/>
                </a:solidFill>
                <a:latin typeface="Cambria"/>
                <a:cs typeface="Cambria"/>
              </a:rPr>
              <a:t>Darshan Humbal</a:t>
            </a:r>
            <a:r>
              <a:rPr sz="2000" spc="448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92300527140</a:t>
            </a: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)&gt;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64002" y="1096009"/>
            <a:ext cx="271801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sng" spc="-10" dirty="0">
                <a:solidFill>
                  <a:srgbClr val="000000"/>
                </a:solidFill>
                <a:latin typeface="Times New Roman"/>
                <a:cs typeface="Times New Roman"/>
              </a:rPr>
              <a:t>ACKNOWLEDGEMENT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4704" y="1619361"/>
            <a:ext cx="5885930" cy="1154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It</a:t>
            </a:r>
            <a:r>
              <a:rPr sz="1400" spc="4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1400" spc="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indeed</a:t>
            </a:r>
            <a:r>
              <a:rPr sz="1400" spc="5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great</a:t>
            </a:r>
            <a:r>
              <a:rPr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pleasure</a:t>
            </a:r>
            <a:r>
              <a:rPr sz="1400" spc="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express</a:t>
            </a:r>
            <a:r>
              <a:rPr sz="1400" spc="5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our</a:t>
            </a:r>
            <a:r>
              <a:rPr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thanks</a:t>
            </a:r>
            <a:r>
              <a:rPr sz="14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gratitude</a:t>
            </a:r>
            <a:r>
              <a:rPr sz="14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all</a:t>
            </a:r>
            <a:r>
              <a:rPr sz="1400" spc="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those</a:t>
            </a:r>
            <a:r>
              <a:rPr sz="14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who</a:t>
            </a:r>
          </a:p>
          <a:p>
            <a:pPr marL="0" marR="0">
              <a:lnSpc>
                <a:spcPts val="1554"/>
              </a:lnSpc>
              <a:spcBef>
                <a:spcPts val="80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helped</a:t>
            </a:r>
            <a:r>
              <a:rPr sz="14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us.</a:t>
            </a:r>
            <a:r>
              <a:rPr sz="1400" spc="7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No</a:t>
            </a:r>
            <a:r>
              <a:rPr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serious</a:t>
            </a:r>
            <a:r>
              <a:rPr sz="1400" spc="9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lasting</a:t>
            </a:r>
            <a:r>
              <a:rPr sz="1400" spc="8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achievement</a:t>
            </a:r>
            <a:r>
              <a:rPr sz="14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success</a:t>
            </a:r>
            <a:r>
              <a:rPr sz="1400" spc="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one</a:t>
            </a:r>
            <a:r>
              <a:rPr sz="1400" spc="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can</a:t>
            </a:r>
            <a:r>
              <a:rPr sz="14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ever</a:t>
            </a:r>
            <a:r>
              <a:rPr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achieve</a:t>
            </a:r>
          </a:p>
          <a:p>
            <a:pPr marL="0" marR="0">
              <a:lnSpc>
                <a:spcPts val="1554"/>
              </a:lnSpc>
              <a:spcBef>
                <a:spcPts val="80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without</a:t>
            </a:r>
            <a:r>
              <a:rPr sz="1400" spc="34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3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help</a:t>
            </a:r>
            <a:r>
              <a:rPr sz="1400" spc="3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400" spc="3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friendly</a:t>
            </a:r>
            <a:r>
              <a:rPr sz="1400" spc="3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guidance</a:t>
            </a:r>
            <a:r>
              <a:rPr sz="1400" spc="3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3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co-operation</a:t>
            </a:r>
            <a:r>
              <a:rPr sz="1400" spc="34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400" spc="3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so</a:t>
            </a:r>
            <a:r>
              <a:rPr sz="1400" spc="3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many</a:t>
            </a:r>
            <a:r>
              <a:rPr sz="1400" spc="3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people</a:t>
            </a:r>
          </a:p>
          <a:p>
            <a:pPr marL="0" marR="0">
              <a:lnSpc>
                <a:spcPts val="1554"/>
              </a:lnSpc>
              <a:spcBef>
                <a:spcPts val="80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involved in</a:t>
            </a:r>
            <a:r>
              <a:rPr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work.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4704" y="3152488"/>
            <a:ext cx="5884079" cy="1462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We</a:t>
            </a:r>
            <a:r>
              <a:rPr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are</a:t>
            </a:r>
            <a:r>
              <a:rPr sz="1400" spc="-7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very</a:t>
            </a:r>
            <a:r>
              <a:rPr sz="1400" spc="-6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thankful</a:t>
            </a:r>
            <a:r>
              <a:rPr sz="1400" spc="-6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-7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our</a:t>
            </a:r>
            <a:r>
              <a:rPr sz="1400" spc="-7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guide</a:t>
            </a:r>
            <a:r>
              <a:rPr sz="1400" spc="-5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&lt;Prof.</a:t>
            </a:r>
            <a:r>
              <a:rPr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spc="74" dirty="0">
                <a:solidFill>
                  <a:srgbClr val="000000"/>
                </a:solidFill>
                <a:latin typeface="Cambria"/>
                <a:cs typeface="Cambria"/>
              </a:rPr>
              <a:t>Vipul</a:t>
            </a:r>
            <a:r>
              <a:rPr sz="1300" b="1" spc="-66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300" b="1" spc="81" dirty="0">
                <a:solidFill>
                  <a:srgbClr val="000000"/>
                </a:solidFill>
                <a:latin typeface="Cambria"/>
                <a:cs typeface="Cambria"/>
              </a:rPr>
              <a:t>Bambhaniya</a:t>
            </a:r>
            <a:r>
              <a:rPr sz="1300" b="1" spc="-36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&gt;,</a:t>
            </a:r>
            <a:r>
              <a:rPr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-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person</a:t>
            </a:r>
            <a:r>
              <a:rPr sz="1400" spc="-6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who</a:t>
            </a:r>
          </a:p>
          <a:p>
            <a:pPr marL="0" marR="0">
              <a:lnSpc>
                <a:spcPts val="1554"/>
              </a:lnSpc>
              <a:spcBef>
                <a:spcPts val="80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makes</a:t>
            </a:r>
            <a:r>
              <a:rPr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us</a:t>
            </a:r>
            <a:r>
              <a:rPr sz="14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follow</a:t>
            </a:r>
            <a:r>
              <a:rPr sz="140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right steps during</a:t>
            </a:r>
            <a:r>
              <a:rPr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our project work. We</a:t>
            </a:r>
            <a:r>
              <a:rPr sz="1400" spc="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express our deep</a:t>
            </a:r>
          </a:p>
          <a:p>
            <a:pPr marL="0" marR="0">
              <a:lnSpc>
                <a:spcPts val="1554"/>
              </a:lnSpc>
              <a:spcBef>
                <a:spcPts val="80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sense</a:t>
            </a:r>
            <a:r>
              <a:rPr sz="1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4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gratitude</a:t>
            </a:r>
            <a:r>
              <a:rPr sz="1400" spc="16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1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1400" spc="1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his</a:t>
            </a:r>
            <a:r>
              <a:rPr sz="1400" spc="17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/her</a:t>
            </a:r>
            <a:r>
              <a:rPr sz="1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guidance,</a:t>
            </a:r>
            <a:r>
              <a:rPr sz="1400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suggestions</a:t>
            </a:r>
            <a:r>
              <a:rPr sz="1400" spc="18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18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expertise</a:t>
            </a:r>
            <a:r>
              <a:rPr sz="1400" spc="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at</a:t>
            </a:r>
            <a:r>
              <a:rPr sz="1400" spc="1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every</a:t>
            </a:r>
          </a:p>
          <a:p>
            <a:pPr marL="0" marR="0">
              <a:lnSpc>
                <a:spcPts val="1554"/>
              </a:lnSpc>
              <a:spcBef>
                <a:spcPts val="80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stage.</a:t>
            </a:r>
            <a:r>
              <a:rPr sz="1400" spc="49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400" spc="5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part</a:t>
            </a:r>
            <a:r>
              <a:rPr sz="1400" spc="5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from</a:t>
            </a:r>
            <a:r>
              <a:rPr sz="1400" spc="5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that</a:t>
            </a:r>
            <a:r>
              <a:rPr sz="1400" spc="5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his/her</a:t>
            </a:r>
            <a:r>
              <a:rPr sz="1400" spc="5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valuable</a:t>
            </a:r>
            <a:r>
              <a:rPr sz="1400" spc="5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5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expertise</a:t>
            </a:r>
            <a:r>
              <a:rPr sz="1400" spc="5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suggestion</a:t>
            </a:r>
            <a:r>
              <a:rPr sz="1400" spc="5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during</a:t>
            </a:r>
          </a:p>
          <a:p>
            <a:pPr marL="0" marR="0">
              <a:lnSpc>
                <a:spcPts val="1554"/>
              </a:lnSpc>
              <a:spcBef>
                <a:spcPts val="81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documentation of</a:t>
            </a:r>
            <a:r>
              <a:rPr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our</a:t>
            </a:r>
            <a:r>
              <a:rPr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report</a:t>
            </a:r>
            <a:r>
              <a:rPr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indeed help</a:t>
            </a:r>
            <a:r>
              <a:rPr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us a lot.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4704" y="4993878"/>
            <a:ext cx="5869134" cy="540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Thanks</a:t>
            </a:r>
            <a:r>
              <a:rPr sz="1400" spc="1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1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our</a:t>
            </a:r>
            <a:r>
              <a:rPr sz="1400" spc="1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friend</a:t>
            </a:r>
            <a:r>
              <a:rPr sz="1400" spc="1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1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colleague</a:t>
            </a:r>
            <a:r>
              <a:rPr sz="1400" spc="10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who</a:t>
            </a:r>
            <a:r>
              <a:rPr sz="1400" spc="1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have</a:t>
            </a:r>
            <a:r>
              <a:rPr sz="1400" spc="1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been</a:t>
            </a:r>
            <a:r>
              <a:rPr sz="1400" spc="1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400" spc="1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source</a:t>
            </a:r>
            <a:r>
              <a:rPr sz="1400" spc="1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400" spc="1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inspiration</a:t>
            </a:r>
            <a:r>
              <a:rPr sz="1400" spc="1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  <a:p>
            <a:pPr marL="0" marR="0">
              <a:lnSpc>
                <a:spcPts val="1554"/>
              </a:lnSpc>
              <a:spcBef>
                <a:spcPts val="8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motivation that</a:t>
            </a:r>
            <a:r>
              <a:rPr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helped to</a:t>
            </a:r>
            <a:r>
              <a:rPr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us</a:t>
            </a:r>
            <a:r>
              <a:rPr sz="14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during our</a:t>
            </a:r>
            <a:r>
              <a:rPr sz="1400" spc="-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project work.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4704" y="5913104"/>
            <a:ext cx="5885958" cy="1154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We</a:t>
            </a:r>
            <a:r>
              <a:rPr sz="1400" spc="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are</a:t>
            </a:r>
            <a:r>
              <a:rPr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heartily</a:t>
            </a:r>
            <a:r>
              <a:rPr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thankful</a:t>
            </a:r>
            <a:r>
              <a:rPr sz="14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Dean</a:t>
            </a:r>
            <a:r>
              <a:rPr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4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our</a:t>
            </a:r>
            <a:r>
              <a:rPr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department</a:t>
            </a:r>
            <a:r>
              <a:rPr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Dr. R. Sridaran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sir and</a:t>
            </a:r>
          </a:p>
          <a:p>
            <a:pPr marL="0" marR="0">
              <a:lnSpc>
                <a:spcPts val="1554"/>
              </a:lnSpc>
              <a:spcBef>
                <a:spcPts val="80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HoD</a:t>
            </a:r>
            <a:r>
              <a:rPr sz="140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Dr.</a:t>
            </a:r>
            <a:r>
              <a:rPr sz="1400" b="1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Sunil</a:t>
            </a:r>
            <a:r>
              <a:rPr sz="1400" b="1" spc="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Bajeja</a:t>
            </a:r>
            <a:r>
              <a:rPr sz="1400" b="1" spc="6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sir</a:t>
            </a:r>
            <a:r>
              <a:rPr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14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giving</a:t>
            </a:r>
            <a:r>
              <a:rPr sz="14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us</a:t>
            </a:r>
            <a:r>
              <a:rPr sz="14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an</a:t>
            </a:r>
            <a:r>
              <a:rPr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opportunity</a:t>
            </a:r>
            <a:r>
              <a:rPr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work</a:t>
            </a:r>
            <a:r>
              <a:rPr sz="14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over</a:t>
            </a:r>
            <a:r>
              <a:rPr sz="1400" spc="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this</a:t>
            </a:r>
            <a:r>
              <a:rPr sz="14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</a:p>
          <a:p>
            <a:pPr marL="0" marR="0">
              <a:lnSpc>
                <a:spcPts val="1554"/>
              </a:lnSpc>
              <a:spcBef>
                <a:spcPts val="80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29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1400" spc="2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their</a:t>
            </a:r>
            <a:r>
              <a:rPr sz="1400" spc="28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end-less</a:t>
            </a:r>
            <a:r>
              <a:rPr sz="1400" spc="2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29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great</a:t>
            </a:r>
            <a:r>
              <a:rPr sz="1400" spc="2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support</a:t>
            </a:r>
            <a:r>
              <a:rPr sz="1400" spc="2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2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all</a:t>
            </a:r>
            <a:r>
              <a:rPr sz="1400" spc="29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other</a:t>
            </a:r>
            <a:r>
              <a:rPr sz="1400" spc="2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people</a:t>
            </a:r>
            <a:r>
              <a:rPr sz="1400" spc="2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who</a:t>
            </a:r>
            <a:r>
              <a:rPr sz="1400" spc="2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directly</a:t>
            </a:r>
            <a:r>
              <a:rPr sz="1400" spc="2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</a:p>
          <a:p>
            <a:pPr marL="0" marR="0">
              <a:lnSpc>
                <a:spcPts val="1554"/>
              </a:lnSpc>
              <a:spcBef>
                <a:spcPts val="80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indirectly supported and help us</a:t>
            </a:r>
            <a:r>
              <a:rPr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to fulfil our task.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9548" y="8654985"/>
            <a:ext cx="1355245" cy="275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1600" spc="-3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0000"/>
                </a:solidFill>
                <a:latin typeface="Cambria"/>
                <a:cs typeface="Cambria"/>
              </a:rPr>
              <a:t>Nikhil maru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19807" y="8654985"/>
            <a:ext cx="1642618" cy="275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sz="1600" dirty="0">
                <a:solidFill>
                  <a:srgbClr val="000000"/>
                </a:solidFill>
                <a:latin typeface="Cambria"/>
                <a:cs typeface="Cambria"/>
              </a:rPr>
              <a:t>92300527258</a:t>
            </a:r>
            <a:r>
              <a:rPr sz="1600" spc="-17" dirty="0">
                <a:solidFill>
                  <a:srgbClr val="000000"/>
                </a:solidFill>
                <a:latin typeface="Arial"/>
                <a:cs typeface="Arial"/>
              </a:rPr>
              <a:t>)&gt;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9548" y="8990265"/>
            <a:ext cx="3372688" cy="275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1600" spc="-3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0000"/>
                </a:solidFill>
                <a:latin typeface="Cambria"/>
                <a:cs typeface="Cambria"/>
              </a:rPr>
              <a:t>Darshan kannar</a:t>
            </a:r>
            <a:r>
              <a:rPr sz="1600" spc="982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sz="1600" dirty="0">
                <a:solidFill>
                  <a:srgbClr val="000000"/>
                </a:solidFill>
                <a:latin typeface="Cambria"/>
                <a:cs typeface="Cambria"/>
              </a:rPr>
              <a:t>92300527139</a:t>
            </a:r>
            <a:r>
              <a:rPr sz="1600" spc="-17" dirty="0">
                <a:solidFill>
                  <a:srgbClr val="000000"/>
                </a:solidFill>
                <a:latin typeface="Arial"/>
                <a:cs typeface="Arial"/>
              </a:rPr>
              <a:t>)&gt;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09548" y="9327018"/>
            <a:ext cx="3363545" cy="275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1600" spc="-3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0000"/>
                </a:solidFill>
                <a:latin typeface="Cambria"/>
                <a:cs typeface="Cambria"/>
              </a:rPr>
              <a:t>Darshan Humbal</a:t>
            </a:r>
            <a:r>
              <a:rPr sz="1600" spc="339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sz="1600" dirty="0">
                <a:solidFill>
                  <a:srgbClr val="000000"/>
                </a:solidFill>
                <a:latin typeface="Cambria"/>
                <a:cs typeface="Cambria"/>
              </a:rPr>
              <a:t>92300527140</a:t>
            </a:r>
            <a:r>
              <a:rPr sz="1600" spc="-17" dirty="0">
                <a:solidFill>
                  <a:srgbClr val="000000"/>
                </a:solidFill>
                <a:latin typeface="Arial"/>
                <a:cs typeface="Arial"/>
              </a:rPr>
              <a:t>)&gt;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50696" y="1218945"/>
            <a:ext cx="5804610" cy="58482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51327" y="807784"/>
            <a:ext cx="1409700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spc="-31" dirty="0">
                <a:solidFill>
                  <a:srgbClr val="000000"/>
                </a:solidFill>
                <a:latin typeface="Arial"/>
                <a:cs typeface="Arial"/>
              </a:rPr>
              <a:t>CONTENTS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5476" y="1275669"/>
            <a:ext cx="950111" cy="257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550" spc="-11" dirty="0">
                <a:solidFill>
                  <a:srgbClr val="000000"/>
                </a:solidFill>
                <a:latin typeface="Arial"/>
                <a:cs typeface="Arial"/>
              </a:rPr>
              <a:t>Chapters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32098" y="1275669"/>
            <a:ext cx="1081047" cy="257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550" spc="-10" dirty="0">
                <a:solidFill>
                  <a:srgbClr val="000000"/>
                </a:solidFill>
                <a:latin typeface="Arial"/>
                <a:cs typeface="Arial"/>
              </a:rPr>
              <a:t>Particulars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25997" y="1275669"/>
            <a:ext cx="911096" cy="257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450" spc="-36" dirty="0">
                <a:solidFill>
                  <a:srgbClr val="000000"/>
                </a:solidFill>
                <a:latin typeface="Arial"/>
                <a:cs typeface="Arial"/>
              </a:rPr>
              <a:t>Page</a:t>
            </a:r>
            <a:r>
              <a:rPr sz="1450" spc="-3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000000"/>
                </a:solidFill>
                <a:latin typeface="Arial"/>
                <a:cs typeface="Arial"/>
              </a:rPr>
              <a:t>No.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32992" y="1536642"/>
            <a:ext cx="254956" cy="244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2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14398" y="1556908"/>
            <a:ext cx="957357" cy="22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SYNOPSIS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740653" y="1564920"/>
            <a:ext cx="222504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32992" y="1742382"/>
            <a:ext cx="254956" cy="244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2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14398" y="1764172"/>
            <a:ext cx="1085141" cy="22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PREAMBLE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740653" y="1771791"/>
            <a:ext cx="234695" cy="22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32992" y="1956913"/>
            <a:ext cx="381205" cy="439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300" spc="-25" dirty="0">
                <a:solidFill>
                  <a:srgbClr val="000000"/>
                </a:solidFill>
                <a:latin typeface="Arial"/>
                <a:cs typeface="Arial"/>
              </a:rPr>
              <a:t>2.1</a:t>
            </a:r>
          </a:p>
          <a:p>
            <a:pPr marL="0" marR="0">
              <a:lnSpc>
                <a:spcPts val="1447"/>
              </a:lnSpc>
              <a:spcBef>
                <a:spcPts val="318"/>
              </a:spcBef>
              <a:spcAft>
                <a:spcPts val="0"/>
              </a:spcAft>
            </a:pPr>
            <a:r>
              <a:rPr sz="1300" spc="-25" dirty="0">
                <a:solidFill>
                  <a:srgbClr val="000000"/>
                </a:solidFill>
                <a:latin typeface="Arial"/>
                <a:cs typeface="Arial"/>
              </a:rPr>
              <a:t>2.2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14398" y="1960767"/>
            <a:ext cx="1513938" cy="4169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General</a:t>
            </a:r>
            <a:r>
              <a:rPr sz="130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Introduction</a:t>
            </a:r>
          </a:p>
          <a:p>
            <a:pPr marL="0" marR="0">
              <a:lnSpc>
                <a:spcPts val="1435"/>
              </a:lnSpc>
              <a:spcBef>
                <a:spcPts val="162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Module</a:t>
            </a:r>
            <a:r>
              <a:rPr sz="13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000000"/>
                </a:solidFill>
                <a:latin typeface="Times New Roman"/>
                <a:cs typeface="Times New Roman"/>
              </a:rPr>
              <a:t>description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32992" y="2560770"/>
            <a:ext cx="254956" cy="244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2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914398" y="2579511"/>
            <a:ext cx="2226809" cy="22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REVIEW</a:t>
            </a:r>
            <a:r>
              <a:rPr sz="1300" b="1" spc="-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300" b="1" spc="-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LITERATURE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740653" y="2571891"/>
            <a:ext cx="234695" cy="6257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6</a:t>
            </a:r>
          </a:p>
          <a:p>
            <a:pPr marL="0" marR="0">
              <a:lnSpc>
                <a:spcPts val="1435"/>
              </a:lnSpc>
              <a:spcBef>
                <a:spcPts val="17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32992" y="2947865"/>
            <a:ext cx="381205" cy="436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2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</a:p>
          <a:p>
            <a:pPr marL="0" marR="0">
              <a:lnSpc>
                <a:spcPts val="1447"/>
              </a:lnSpc>
              <a:spcBef>
                <a:spcPts val="70"/>
              </a:spcBef>
              <a:spcAft>
                <a:spcPts val="0"/>
              </a:spcAft>
            </a:pPr>
            <a:r>
              <a:rPr sz="1300" spc="-25" dirty="0">
                <a:solidFill>
                  <a:srgbClr val="000000"/>
                </a:solidFill>
                <a:latin typeface="Arial"/>
                <a:cs typeface="Arial"/>
              </a:rPr>
              <a:t>4.1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914398" y="2969655"/>
            <a:ext cx="2321643" cy="417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TECHNICAL</a:t>
            </a:r>
            <a:r>
              <a:rPr sz="1300" b="1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DESCRIPTION</a:t>
            </a:r>
          </a:p>
          <a:p>
            <a:pPr marL="0" marR="0">
              <a:lnSpc>
                <a:spcPts val="1435"/>
              </a:lnSpc>
              <a:spcBef>
                <a:spcPts val="165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Hardware</a:t>
            </a:r>
            <a:r>
              <a:rPr sz="130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000000"/>
                </a:solidFill>
                <a:latin typeface="Times New Roman"/>
                <a:cs typeface="Times New Roman"/>
              </a:rPr>
              <a:t>Requirement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32992" y="3377662"/>
            <a:ext cx="381205" cy="22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300" spc="-25" dirty="0">
                <a:solidFill>
                  <a:srgbClr val="000000"/>
                </a:solidFill>
                <a:latin typeface="Arial"/>
                <a:cs typeface="Arial"/>
              </a:rPr>
              <a:t>4.2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14398" y="3363228"/>
            <a:ext cx="1623602" cy="22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Software</a:t>
            </a:r>
            <a:r>
              <a:rPr sz="13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000000"/>
                </a:solidFill>
                <a:latin typeface="Times New Roman"/>
                <a:cs typeface="Times New Roman"/>
              </a:rPr>
              <a:t>Requirement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32992" y="3585279"/>
            <a:ext cx="254956" cy="244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2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914398" y="3602497"/>
            <a:ext cx="3214950" cy="601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sz="1300" b="1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DESIGN</a:t>
            </a:r>
            <a:r>
              <a:rPr sz="1300" b="1" spc="-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3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DEVELOPMENT</a:t>
            </a:r>
          </a:p>
          <a:p>
            <a:pPr marL="0" marR="0">
              <a:lnSpc>
                <a:spcPts val="1435"/>
              </a:lnSpc>
              <a:spcBef>
                <a:spcPts val="64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(Only</a:t>
            </a:r>
            <a:r>
              <a:rPr sz="1300" b="1" spc="-82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applicable</a:t>
            </a:r>
            <a:r>
              <a:rPr sz="1300" b="1" spc="-74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diagrams)</a:t>
            </a:r>
          </a:p>
          <a:p>
            <a:pPr marL="0" marR="0">
              <a:lnSpc>
                <a:spcPts val="1435"/>
              </a:lnSpc>
              <a:spcBef>
                <a:spcPts val="64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Architectural Design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740653" y="3599448"/>
            <a:ext cx="234695" cy="22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8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32992" y="3988786"/>
            <a:ext cx="381205" cy="22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300" spc="-25" dirty="0">
                <a:solidFill>
                  <a:srgbClr val="000000"/>
                </a:solidFill>
                <a:latin typeface="Arial"/>
                <a:cs typeface="Arial"/>
              </a:rPr>
              <a:t>5.1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32992" y="4188430"/>
            <a:ext cx="518472" cy="1814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300" spc="-25" dirty="0">
                <a:solidFill>
                  <a:srgbClr val="000000"/>
                </a:solidFill>
                <a:latin typeface="Arial"/>
                <a:cs typeface="Arial"/>
              </a:rPr>
              <a:t>5.2</a:t>
            </a:r>
          </a:p>
          <a:p>
            <a:pPr marL="0" marR="0">
              <a:lnSpc>
                <a:spcPts val="1447"/>
              </a:lnSpc>
              <a:spcBef>
                <a:spcPts val="162"/>
              </a:spcBef>
              <a:spcAft>
                <a:spcPts val="0"/>
              </a:spcAft>
            </a:pPr>
            <a:r>
              <a:rPr sz="1300" spc="-10" dirty="0">
                <a:solidFill>
                  <a:srgbClr val="000000"/>
                </a:solidFill>
                <a:latin typeface="Arial"/>
                <a:cs typeface="Arial"/>
              </a:rPr>
              <a:t>5.2.1</a:t>
            </a:r>
          </a:p>
          <a:p>
            <a:pPr marL="0" marR="0">
              <a:lnSpc>
                <a:spcPts val="1447"/>
              </a:lnSpc>
              <a:spcBef>
                <a:spcPts val="150"/>
              </a:spcBef>
              <a:spcAft>
                <a:spcPts val="0"/>
              </a:spcAft>
            </a:pPr>
            <a:r>
              <a:rPr sz="1300" spc="-25" dirty="0">
                <a:solidFill>
                  <a:srgbClr val="000000"/>
                </a:solidFill>
                <a:latin typeface="Arial"/>
                <a:cs typeface="Arial"/>
              </a:rPr>
              <a:t>5.3</a:t>
            </a:r>
          </a:p>
          <a:p>
            <a:pPr marL="0" marR="0">
              <a:lnSpc>
                <a:spcPts val="1447"/>
              </a:lnSpc>
              <a:spcBef>
                <a:spcPts val="112"/>
              </a:spcBef>
              <a:spcAft>
                <a:spcPts val="0"/>
              </a:spcAft>
            </a:pPr>
            <a:r>
              <a:rPr sz="1300" spc="-10" dirty="0">
                <a:solidFill>
                  <a:srgbClr val="000000"/>
                </a:solidFill>
                <a:latin typeface="Arial"/>
                <a:cs typeface="Arial"/>
              </a:rPr>
              <a:t>5.3.1</a:t>
            </a:r>
          </a:p>
          <a:p>
            <a:pPr marL="0" marR="0">
              <a:lnSpc>
                <a:spcPts val="1447"/>
              </a:lnSpc>
              <a:spcBef>
                <a:spcPts val="162"/>
              </a:spcBef>
              <a:spcAft>
                <a:spcPts val="0"/>
              </a:spcAft>
            </a:pPr>
            <a:r>
              <a:rPr sz="1300" spc="-10" dirty="0">
                <a:solidFill>
                  <a:srgbClr val="000000"/>
                </a:solidFill>
                <a:latin typeface="Arial"/>
                <a:cs typeface="Arial"/>
              </a:rPr>
              <a:t>5.3.2</a:t>
            </a:r>
          </a:p>
          <a:p>
            <a:pPr marL="0" marR="0">
              <a:lnSpc>
                <a:spcPts val="1447"/>
              </a:lnSpc>
              <a:spcBef>
                <a:spcPts val="114"/>
              </a:spcBef>
              <a:spcAft>
                <a:spcPts val="0"/>
              </a:spcAft>
            </a:pPr>
            <a:r>
              <a:rPr sz="1300" spc="-10" dirty="0">
                <a:solidFill>
                  <a:srgbClr val="000000"/>
                </a:solidFill>
                <a:latin typeface="Arial"/>
                <a:cs typeface="Arial"/>
              </a:rPr>
              <a:t>5.3.3</a:t>
            </a:r>
          </a:p>
          <a:p>
            <a:pPr marL="0" marR="0">
              <a:lnSpc>
                <a:spcPts val="1447"/>
              </a:lnSpc>
              <a:spcBef>
                <a:spcPts val="162"/>
              </a:spcBef>
              <a:spcAft>
                <a:spcPts val="0"/>
              </a:spcAft>
            </a:pPr>
            <a:r>
              <a:rPr sz="1300" spc="-25" dirty="0">
                <a:solidFill>
                  <a:srgbClr val="000000"/>
                </a:solidFill>
                <a:latin typeface="Arial"/>
                <a:cs typeface="Arial"/>
              </a:rPr>
              <a:t>5.4</a:t>
            </a:r>
          </a:p>
          <a:p>
            <a:pPr marL="0" marR="0">
              <a:lnSpc>
                <a:spcPts val="1447"/>
              </a:lnSpc>
              <a:spcBef>
                <a:spcPts val="162"/>
              </a:spcBef>
              <a:spcAft>
                <a:spcPts val="0"/>
              </a:spcAft>
            </a:pPr>
            <a:r>
              <a:rPr sz="1300" spc="-10" dirty="0">
                <a:solidFill>
                  <a:srgbClr val="000000"/>
                </a:solidFill>
                <a:latin typeface="Arial"/>
                <a:cs typeface="Arial"/>
              </a:rPr>
              <a:t>5.4.1</a:t>
            </a:r>
          </a:p>
          <a:p>
            <a:pPr marL="0" marR="0">
              <a:lnSpc>
                <a:spcPts val="1447"/>
              </a:lnSpc>
              <a:spcBef>
                <a:spcPts val="184"/>
              </a:spcBef>
              <a:spcAft>
                <a:spcPts val="0"/>
              </a:spcAft>
            </a:pPr>
            <a:r>
              <a:rPr sz="1300" spc="-10" dirty="0">
                <a:solidFill>
                  <a:srgbClr val="000000"/>
                </a:solidFill>
                <a:latin typeface="Arial"/>
                <a:cs typeface="Arial"/>
              </a:rPr>
              <a:t>5.4.2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914398" y="4173996"/>
            <a:ext cx="1573291" cy="409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98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Arial"/>
                <a:cs typeface="Arial"/>
              </a:rPr>
              <a:t>●</a:t>
            </a:r>
            <a:r>
              <a:rPr sz="1050" spc="8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Class</a:t>
            </a:r>
            <a:r>
              <a:rPr sz="13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Diagram</a:t>
            </a:r>
          </a:p>
          <a:p>
            <a:pPr marL="0" marR="0">
              <a:lnSpc>
                <a:spcPts val="1435"/>
              </a:lnSpc>
              <a:spcBef>
                <a:spcPts val="52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Dynamic</a:t>
            </a:r>
            <a:r>
              <a:rPr sz="1300" b="1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Modeling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143379" y="4553472"/>
            <a:ext cx="1617106" cy="602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Arial"/>
                <a:cs typeface="Arial"/>
              </a:rPr>
              <a:t>●</a:t>
            </a:r>
            <a:r>
              <a:rPr sz="1050" spc="8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Use</a:t>
            </a:r>
            <a:r>
              <a:rPr sz="1300" spc="-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Case</a:t>
            </a:r>
            <a:r>
              <a:rPr sz="13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000000"/>
                </a:solidFill>
                <a:latin typeface="Times New Roman"/>
                <a:cs typeface="Times New Roman"/>
              </a:rPr>
              <a:t>Diagram</a:t>
            </a:r>
          </a:p>
          <a:p>
            <a:pPr marL="0" marR="0">
              <a:lnSpc>
                <a:spcPts val="1435"/>
              </a:lnSpc>
              <a:spcBef>
                <a:spcPts val="76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Arial"/>
                <a:cs typeface="Arial"/>
              </a:rPr>
              <a:t>●</a:t>
            </a:r>
            <a:r>
              <a:rPr sz="1050" spc="8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Sequence</a:t>
            </a:r>
            <a:r>
              <a:rPr sz="13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Diagram</a:t>
            </a:r>
          </a:p>
          <a:p>
            <a:pPr marL="0" marR="0">
              <a:lnSpc>
                <a:spcPts val="1435"/>
              </a:lnSpc>
              <a:spcBef>
                <a:spcPts val="64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Arial"/>
                <a:cs typeface="Arial"/>
              </a:rPr>
              <a:t>●</a:t>
            </a:r>
            <a:r>
              <a:rPr sz="1050" spc="8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Activity</a:t>
            </a:r>
            <a:r>
              <a:rPr sz="13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Diagram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914398" y="5126496"/>
            <a:ext cx="3377759" cy="789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98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Arial"/>
                <a:cs typeface="Arial"/>
              </a:rPr>
              <a:t>●</a:t>
            </a:r>
            <a:r>
              <a:rPr sz="1050" spc="8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Any</a:t>
            </a:r>
            <a:r>
              <a:rPr sz="1300" spc="-4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other</a:t>
            </a:r>
            <a:r>
              <a:rPr sz="1300" spc="-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applicable</a:t>
            </a:r>
            <a:r>
              <a:rPr sz="130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diagram</a:t>
            </a:r>
            <a:r>
              <a:rPr sz="1300" spc="-4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(applicable)</a:t>
            </a:r>
          </a:p>
          <a:p>
            <a:pPr marL="0" marR="0">
              <a:lnSpc>
                <a:spcPts val="1435"/>
              </a:lnSpc>
              <a:spcBef>
                <a:spcPts val="54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Database Design (If applicable)</a:t>
            </a:r>
          </a:p>
          <a:p>
            <a:pPr marL="0" marR="0">
              <a:lnSpc>
                <a:spcPts val="1435"/>
              </a:lnSpc>
              <a:spcBef>
                <a:spcPts val="64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Relationship</a:t>
            </a:r>
            <a:r>
              <a:rPr sz="1300" spc="-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Diagram</a:t>
            </a:r>
            <a:r>
              <a:rPr sz="1300" spc="-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(ER)</a:t>
            </a:r>
          </a:p>
          <a:p>
            <a:pPr marL="0" marR="0">
              <a:lnSpc>
                <a:spcPts val="1435"/>
              </a:lnSpc>
              <a:spcBef>
                <a:spcPts val="52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Menu Design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914398" y="5862842"/>
            <a:ext cx="1099136" cy="22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Screen</a:t>
            </a:r>
            <a:r>
              <a:rPr sz="13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000000"/>
                </a:solidFill>
                <a:latin typeface="Times New Roman"/>
                <a:cs typeface="Times New Roman"/>
              </a:rPr>
              <a:t>Design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932992" y="6062402"/>
            <a:ext cx="248176" cy="436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Arial"/>
                <a:cs typeface="Arial"/>
              </a:rPr>
              <a:t>6</a:t>
            </a:r>
          </a:p>
          <a:p>
            <a:pPr marL="0" marR="0">
              <a:lnSpc>
                <a:spcPts val="1514"/>
              </a:lnSpc>
              <a:spcBef>
                <a:spcPts val="105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914398" y="6073154"/>
            <a:ext cx="3124849" cy="424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CONCLUSION</a:t>
            </a:r>
          </a:p>
          <a:p>
            <a:pPr marL="0" marR="0">
              <a:lnSpc>
                <a:spcPts val="1435"/>
              </a:lnSpc>
              <a:spcBef>
                <a:spcPts val="172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1300" b="1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DURING</a:t>
            </a:r>
            <a:r>
              <a:rPr sz="1300" b="1" spc="-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1300" b="1" spc="-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spc="-18" dirty="0">
                <a:solidFill>
                  <a:srgbClr val="000000"/>
                </a:solidFill>
                <a:latin typeface="Times New Roman"/>
                <a:cs typeface="Times New Roman"/>
              </a:rPr>
              <a:t>WORK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740653" y="6071827"/>
            <a:ext cx="304800" cy="406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15</a:t>
            </a:r>
          </a:p>
          <a:p>
            <a:pPr marL="0" marR="0">
              <a:lnSpc>
                <a:spcPts val="1222"/>
              </a:lnSpc>
              <a:spcBef>
                <a:spcPts val="352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15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932992" y="6475406"/>
            <a:ext cx="248176" cy="230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914398" y="6486159"/>
            <a:ext cx="1451053" cy="22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BIBLIOGRAPHY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5740653" y="6492254"/>
            <a:ext cx="316992" cy="22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16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932992" y="6667430"/>
            <a:ext cx="391798" cy="230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23" dirty="0">
                <a:solidFill>
                  <a:srgbClr val="000000"/>
                </a:solidFill>
                <a:latin typeface="Arial"/>
                <a:cs typeface="Arial"/>
              </a:rPr>
              <a:t>8.1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914398" y="6676659"/>
            <a:ext cx="1359711" cy="22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Online</a:t>
            </a:r>
            <a:r>
              <a:rPr sz="1300" spc="-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000000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932992" y="6851834"/>
            <a:ext cx="391798" cy="230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23" dirty="0">
                <a:solidFill>
                  <a:srgbClr val="000000"/>
                </a:solidFill>
                <a:latin typeface="Arial"/>
                <a:cs typeface="Arial"/>
              </a:rPr>
              <a:t>8.2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914398" y="6862587"/>
            <a:ext cx="1384095" cy="22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  <a:cs typeface="Times New Roman"/>
              </a:rPr>
              <a:t>Offline</a:t>
            </a:r>
            <a:r>
              <a:rPr sz="1300" spc="-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000000"/>
                </a:solidFill>
                <a:latin typeface="Times New Roman"/>
                <a:cs typeface="Times New Roman"/>
              </a:rPr>
              <a:t>References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8148" y="823213"/>
            <a:ext cx="157454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1. SYNOPSIS: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548" y="1347696"/>
            <a:ext cx="5644508" cy="963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This project is a web-based Student Attendance Management</a:t>
            </a:r>
          </a:p>
          <a:p>
            <a:pPr marL="0" marR="0">
              <a:lnSpc>
                <a:spcPts val="1767"/>
              </a:lnSpc>
              <a:spcBef>
                <a:spcPts val="1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System implemented using PHP for server-side logic and MySQL</a:t>
            </a:r>
          </a:p>
          <a:p>
            <a:pPr marL="0" marR="0">
              <a:lnSpc>
                <a:spcPts val="1767"/>
              </a:lnSpc>
              <a:spcBef>
                <a:spcPts val="8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database for storage.</a:t>
            </a:r>
            <a:r>
              <a:rPr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It provides authentication for teachers, student</a:t>
            </a:r>
          </a:p>
          <a:p>
            <a:pPr marL="0" marR="0">
              <a:lnSpc>
                <a:spcPts val="1767"/>
              </a:lnSpc>
              <a:spcBef>
                <a:spcPts val="1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record</a:t>
            </a:r>
            <a:r>
              <a:rPr sz="16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management, attendance marking, and report generation.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9548" y="2548381"/>
            <a:ext cx="1752855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2. PREAMBLE: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9548" y="3090973"/>
            <a:ext cx="3155647" cy="365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74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365F91"/>
                </a:solidFill>
                <a:latin typeface="Cambria"/>
                <a:cs typeface="Cambria"/>
              </a:rPr>
              <a:t>2.1 General Introduction: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9548" y="3605103"/>
            <a:ext cx="5767596" cy="13774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Traditional manual attendance systems are</a:t>
            </a:r>
            <a:r>
              <a:rPr sz="1800" spc="1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error-prone,</a:t>
            </a:r>
          </a:p>
          <a:p>
            <a:pPr marL="0" marR="0">
              <a:lnSpc>
                <a:spcPts val="2110"/>
              </a:lnSpc>
              <a:spcBef>
                <a:spcPts val="1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time-consuming, and difficult to maintain. The</a:t>
            </a:r>
            <a:r>
              <a:rPr sz="1800" spc="-17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proposed</a:t>
            </a:r>
          </a:p>
          <a:p>
            <a:pPr marL="0" marR="0">
              <a:lnSpc>
                <a:spcPts val="209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system automates this process, allowing teachers to mark</a:t>
            </a:r>
          </a:p>
          <a:p>
            <a:pPr marL="0" marR="0">
              <a:lnSpc>
                <a:spcPts val="2110"/>
              </a:lnSpc>
              <a:spcBef>
                <a:spcPts val="1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attendance online, store records securely, and</a:t>
            </a:r>
            <a:r>
              <a:rPr sz="1800" spc="1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generate</a:t>
            </a:r>
          </a:p>
          <a:p>
            <a:pPr marL="0" marR="0">
              <a:lnSpc>
                <a:spcPts val="2110"/>
              </a:lnSpc>
              <a:spcBef>
                <a:spcPts val="1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reports.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9548" y="5322363"/>
            <a:ext cx="3001470" cy="365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74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365F91"/>
                </a:solidFill>
                <a:latin typeface="Cambria"/>
                <a:cs typeface="Cambria"/>
              </a:rPr>
              <a:t>2.2 Module Description: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9548" y="5982588"/>
            <a:ext cx="5908917" cy="16053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Authentication</a:t>
            </a:r>
            <a:r>
              <a:rPr sz="18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Module</a:t>
            </a:r>
            <a:r>
              <a:rPr sz="1800" spc="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– Teacher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login/logout</a:t>
            </a:r>
          </a:p>
          <a:p>
            <a:pPr marL="0" marR="0">
              <a:lnSpc>
                <a:spcPts val="1993"/>
              </a:lnSpc>
              <a:spcBef>
                <a:spcPts val="7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Student Management Module – Add/update student</a:t>
            </a:r>
            <a:r>
              <a:rPr sz="18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details</a:t>
            </a:r>
          </a:p>
          <a:p>
            <a:pPr marL="0" marR="0">
              <a:lnSpc>
                <a:spcPts val="1993"/>
              </a:lnSpc>
              <a:spcBef>
                <a:spcPts val="2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(roll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no,</a:t>
            </a:r>
            <a:r>
              <a:rPr sz="1800" spc="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name, age, class, etc.)</a:t>
            </a:r>
          </a:p>
          <a:p>
            <a:pPr marL="0" marR="0">
              <a:lnSpc>
                <a:spcPts val="1993"/>
              </a:lnSpc>
              <a:spcBef>
                <a:spcPts val="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Attendance Module</a:t>
            </a:r>
            <a:r>
              <a:rPr sz="18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– Mark daily attendance, view history</a:t>
            </a:r>
          </a:p>
          <a:p>
            <a:pPr marL="0" marR="0">
              <a:lnSpc>
                <a:spcPts val="1993"/>
              </a:lnSpc>
              <a:spcBef>
                <a:spcPts val="7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Report Module – Generate reports by class, student, or date</a:t>
            </a:r>
          </a:p>
          <a:p>
            <a:pPr marL="0" marR="0">
              <a:lnSpc>
                <a:spcPts val="1993"/>
              </a:lnSpc>
              <a:spcBef>
                <a:spcPts val="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Database Module</a:t>
            </a:r>
            <a:r>
              <a:rPr sz="18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– Manages storage and retrieval in MySQL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9548" y="7823961"/>
            <a:ext cx="335331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3. REVIEW OF LITERATURE: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9548" y="8379994"/>
            <a:ext cx="6085201" cy="1780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review of existing</a:t>
            </a:r>
            <a:r>
              <a:rPr sz="20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attendance systems</a:t>
            </a:r>
            <a:r>
              <a:rPr sz="2000" spc="-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reveals that</a:t>
            </a:r>
          </a:p>
          <a:p>
            <a:pPr marL="0" marR="0">
              <a:lnSpc>
                <a:spcPts val="2219"/>
              </a:lnSpc>
              <a:spcBef>
                <a:spcPts val="72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many institutions still use</a:t>
            </a:r>
            <a:r>
              <a:rPr sz="2000" spc="-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manual</a:t>
            </a:r>
            <a:r>
              <a:rPr sz="20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or Excel-based</a:t>
            </a:r>
          </a:p>
          <a:p>
            <a:pPr marL="0" marR="0">
              <a:lnSpc>
                <a:spcPts val="2219"/>
              </a:lnSpc>
              <a:spcBef>
                <a:spcPts val="8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methods. Recent research</a:t>
            </a:r>
            <a:r>
              <a:rPr sz="20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shows web-based</a:t>
            </a:r>
            <a:r>
              <a:rPr sz="20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systems using</a:t>
            </a:r>
          </a:p>
          <a:p>
            <a:pPr marL="0" marR="0">
              <a:lnSpc>
                <a:spcPts val="2219"/>
              </a:lnSpc>
              <a:spcBef>
                <a:spcPts val="72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PHP/MySQL are effective for automation. Compared</a:t>
            </a:r>
            <a:r>
              <a:rPr sz="20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7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</a:p>
          <a:p>
            <a:pPr marL="0" marR="0">
              <a:lnSpc>
                <a:spcPts val="2219"/>
              </a:lnSpc>
              <a:spcBef>
                <a:spcPts val="87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biometric systems, this</a:t>
            </a:r>
            <a:r>
              <a:rPr sz="2000" spc="-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2000" spc="-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provides</a:t>
            </a:r>
            <a:r>
              <a:rPr sz="20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a low-cost,</a:t>
            </a:r>
          </a:p>
          <a:p>
            <a:pPr marL="0" marR="0">
              <a:lnSpc>
                <a:spcPts val="2219"/>
              </a:lnSpc>
              <a:spcBef>
                <a:spcPts val="8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simple solution using LAMP stack.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09548" y="823213"/>
            <a:ext cx="3487422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4. TECHNICAL</a:t>
            </a:r>
            <a:r>
              <a:rPr sz="1800" b="1" spc="1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DESCRIPTION: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9548" y="1628842"/>
            <a:ext cx="3790367" cy="1382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65F91"/>
                </a:solidFill>
                <a:latin typeface="Cambria"/>
                <a:cs typeface="Cambria"/>
              </a:rPr>
              <a:t>4.1 Hardware Requirement:</a:t>
            </a:r>
          </a:p>
          <a:p>
            <a:pPr marL="0" marR="0">
              <a:lnSpc>
                <a:spcPts val="1519"/>
              </a:lnSpc>
              <a:spcBef>
                <a:spcPts val="191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Cambria"/>
                <a:cs typeface="Cambria"/>
              </a:rPr>
              <a:t>-PC/Laptop with min. 4GB RAM</a:t>
            </a:r>
          </a:p>
          <a:p>
            <a:pPr marL="0" marR="0">
              <a:lnSpc>
                <a:spcPts val="1519"/>
              </a:lnSpc>
              <a:spcBef>
                <a:spcPts val="4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Cambria"/>
                <a:cs typeface="Cambria"/>
              </a:rPr>
              <a:t>- 2GHz Processor</a:t>
            </a:r>
          </a:p>
          <a:p>
            <a:pPr marL="0" marR="0">
              <a:lnSpc>
                <a:spcPts val="1519"/>
              </a:lnSpc>
              <a:spcBef>
                <a:spcPts val="54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Cambria"/>
                <a:cs typeface="Cambria"/>
              </a:rPr>
              <a:t>- 1GB free disk space</a:t>
            </a:r>
          </a:p>
          <a:p>
            <a:pPr marL="0" marR="0">
              <a:lnSpc>
                <a:spcPts val="2772"/>
              </a:lnSpc>
              <a:spcBef>
                <a:spcPts val="153"/>
              </a:spcBef>
              <a:spcAft>
                <a:spcPts val="0"/>
              </a:spcAft>
            </a:pPr>
            <a:r>
              <a:rPr sz="2400" dirty="0">
                <a:solidFill>
                  <a:srgbClr val="365F91"/>
                </a:solidFill>
                <a:latin typeface="Cambria"/>
                <a:cs typeface="Cambria"/>
              </a:rPr>
              <a:t>4.2 Software Requirement: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9548" y="3144646"/>
            <a:ext cx="3274120" cy="1342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OS:</a:t>
            </a:r>
            <a:r>
              <a:rPr sz="1800" spc="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Windows/Linux</a:t>
            </a:r>
          </a:p>
          <a:p>
            <a:pPr marL="0" marR="0">
              <a:lnSpc>
                <a:spcPts val="1993"/>
              </a:lnSpc>
              <a:spcBef>
                <a:spcPts val="7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Server: Apache/Nginx with PHP</a:t>
            </a:r>
          </a:p>
          <a:p>
            <a:pPr marL="0" marR="0">
              <a:lnSpc>
                <a:spcPts val="1993"/>
              </a:lnSpc>
              <a:spcBef>
                <a:spcPts val="3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PHP 7.4+</a:t>
            </a:r>
          </a:p>
          <a:p>
            <a:pPr marL="0" marR="0">
              <a:lnSpc>
                <a:spcPts val="1993"/>
              </a:lnSpc>
              <a:spcBef>
                <a:spcPts val="7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MySQL / MariaDB</a:t>
            </a:r>
          </a:p>
          <a:p>
            <a:pPr marL="0" marR="0">
              <a:lnSpc>
                <a:spcPts val="1993"/>
              </a:lnSpc>
              <a:spcBef>
                <a:spcPts val="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Browser:</a:t>
            </a:r>
            <a:r>
              <a:rPr sz="1800" spc="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Chrome/Firefox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9548" y="4723510"/>
            <a:ext cx="4732911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5. SYSTEM</a:t>
            </a:r>
            <a:r>
              <a:rPr sz="1800" b="1" spc="11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DESIGN AND DEVELOPMENT: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9548" y="5384613"/>
            <a:ext cx="3372791" cy="395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65F91"/>
                </a:solidFill>
                <a:latin typeface="Cambria"/>
                <a:cs typeface="Cambria"/>
              </a:rPr>
              <a:t>5.1 Architectural Design: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9548" y="6060522"/>
            <a:ext cx="5163960" cy="306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Browser → Web Server (PHP) → Database (MySQL)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9548" y="6736401"/>
            <a:ext cx="6096363" cy="62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65F91"/>
                </a:solidFill>
                <a:latin typeface="Cambria"/>
                <a:cs typeface="Cambria"/>
              </a:rPr>
              <a:t>5.2 Dynamic Modeling:</a:t>
            </a:r>
          </a:p>
          <a:p>
            <a:pPr marL="0" marR="0">
              <a:lnSpc>
                <a:spcPts val="1771"/>
              </a:lnSpc>
              <a:spcBef>
                <a:spcPts val="7"/>
              </a:spcBef>
              <a:spcAft>
                <a:spcPts val="0"/>
              </a:spcAft>
            </a:pPr>
            <a:r>
              <a:rPr sz="1600" b="1" u="sng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1600" b="1" u="sng" spc="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b="1" u="sng" dirty="0">
                <a:solidFill>
                  <a:srgbClr val="000000"/>
                </a:solidFill>
                <a:latin typeface="Times New Roman"/>
                <a:cs typeface="Times New Roman"/>
              </a:rPr>
              <a:t>Use</a:t>
            </a:r>
            <a:r>
              <a:rPr sz="1600" b="1" u="sng" spc="27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b="1" u="sng" dirty="0">
                <a:solidFill>
                  <a:srgbClr val="000000"/>
                </a:solidFill>
                <a:latin typeface="Times New Roman"/>
                <a:cs typeface="Times New Roman"/>
              </a:rPr>
              <a:t>Case:</a:t>
            </a:r>
            <a:r>
              <a:rPr sz="1600" b="1" spc="2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Teacher</a:t>
            </a:r>
            <a:r>
              <a:rPr sz="1600" spc="2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logs</a:t>
            </a:r>
            <a:r>
              <a:rPr sz="1600" spc="2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1600" spc="2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  <a:r>
              <a:rPr sz="1600" spc="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selects</a:t>
            </a:r>
            <a:r>
              <a:rPr sz="1600" spc="2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class</a:t>
            </a:r>
            <a:r>
              <a:rPr sz="1600" spc="2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  <a:r>
              <a:rPr sz="1600" spc="2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marks</a:t>
            </a:r>
            <a:r>
              <a:rPr sz="1600" spc="2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attendance</a:t>
            </a:r>
            <a:r>
              <a:rPr sz="1600" spc="2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9548" y="7336508"/>
            <a:ext cx="716457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68411" y="7336508"/>
            <a:ext cx="592274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saves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805051" y="7336508"/>
            <a:ext cx="310094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458530" y="7336508"/>
            <a:ext cx="43397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DB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236867" y="7336508"/>
            <a:ext cx="35509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936155" y="7336508"/>
            <a:ext cx="637205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report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915766" y="7336508"/>
            <a:ext cx="991950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generated.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09548" y="7802399"/>
            <a:ext cx="6098958" cy="497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u="sng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1600" b="1" u="sng" spc="69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b="1" u="sng" dirty="0">
                <a:solidFill>
                  <a:srgbClr val="000000"/>
                </a:solidFill>
                <a:latin typeface="Times New Roman"/>
                <a:cs typeface="Times New Roman"/>
              </a:rPr>
              <a:t>Sequence:</a:t>
            </a:r>
            <a:r>
              <a:rPr sz="1600" b="1" spc="7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Login</a:t>
            </a:r>
            <a:r>
              <a:rPr sz="1600" spc="7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  <a:r>
              <a:rPr sz="1600" spc="69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Verify</a:t>
            </a:r>
            <a:r>
              <a:rPr sz="1600" spc="7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  <a:r>
              <a:rPr sz="1600" spc="7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Attendance</a:t>
            </a:r>
            <a:r>
              <a:rPr sz="1600" spc="7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Entry</a:t>
            </a:r>
            <a:r>
              <a:rPr sz="1600" spc="7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  <a:r>
              <a:rPr sz="1600" spc="69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Save</a:t>
            </a:r>
            <a:r>
              <a:rPr sz="1600" spc="7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</a:p>
          <a:p>
            <a:pPr marL="0" marR="0">
              <a:lnSpc>
                <a:spcPts val="1767"/>
              </a:lnSpc>
              <a:spcBef>
                <a:spcPts val="3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Confirmation.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09548" y="8503439"/>
            <a:ext cx="219898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u="sng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01394" y="8503439"/>
            <a:ext cx="908442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u="sng" dirty="0">
                <a:solidFill>
                  <a:srgbClr val="000000"/>
                </a:solidFill>
                <a:latin typeface="Times New Roman"/>
                <a:cs typeface="Times New Roman"/>
              </a:rPr>
              <a:t>Activity: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884042" y="8503892"/>
            <a:ext cx="1180074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Step-by-step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537022" y="8503892"/>
            <a:ext cx="1020499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attendance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029647" y="8503892"/>
            <a:ext cx="880672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marking.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09548" y="8738588"/>
            <a:ext cx="6099335" cy="495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1600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DFD:</a:t>
            </a:r>
            <a:r>
              <a:rPr sz="1600" spc="2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Level</a:t>
            </a:r>
            <a:r>
              <a:rPr sz="160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r>
              <a:rPr sz="160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(Teacher</a:t>
            </a:r>
            <a:r>
              <a:rPr sz="1600" spc="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  <a:r>
              <a:rPr sz="1600" spc="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sz="1600" spc="1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  <a:r>
              <a:rPr sz="1600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DB),</a:t>
            </a:r>
            <a:r>
              <a:rPr sz="1600" spc="18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Level</a:t>
            </a:r>
            <a:r>
              <a:rPr sz="1600" spc="19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160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(Authentication,</a:t>
            </a:r>
          </a:p>
          <a:p>
            <a:pPr marL="0" marR="0">
              <a:lnSpc>
                <a:spcPts val="1767"/>
              </a:lnSpc>
              <a:spcBef>
                <a:spcPts val="1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Student Mgmt, Attendance,</a:t>
            </a:r>
            <a:r>
              <a:rPr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Reports).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9548" y="825414"/>
            <a:ext cx="4760101" cy="10766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497D"/>
                </a:solidFill>
                <a:latin typeface="Times New Roman"/>
                <a:cs typeface="Times New Roman"/>
              </a:rPr>
              <a:t>5.3Databas</a:t>
            </a:r>
            <a:r>
              <a:rPr sz="2400" spc="-328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97D"/>
                </a:solidFill>
                <a:latin typeface="Times New Roman"/>
                <a:cs typeface="Times New Roman"/>
              </a:rPr>
              <a:t>Diagram:</a:t>
            </a:r>
          </a:p>
          <a:p>
            <a:pPr marL="2333574" marR="0">
              <a:lnSpc>
                <a:spcPts val="2657"/>
              </a:lnSpc>
              <a:spcBef>
                <a:spcPts val="2812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+-------------------+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43123" y="1876974"/>
            <a:ext cx="2426527" cy="726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6407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  <a:r>
              <a:rPr sz="2400" spc="36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User</a:t>
            </a:r>
            <a:r>
              <a:rPr sz="2400" spc="42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</a:p>
          <a:p>
            <a:pPr marL="0" marR="0">
              <a:lnSpc>
                <a:spcPts val="2657"/>
              </a:lnSpc>
              <a:spcBef>
                <a:spcPts val="52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+-------------------+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90721" y="2578014"/>
            <a:ext cx="1036379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  <a:r>
              <a:rPr sz="2400" spc="12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↑</a:t>
            </a:r>
            <a:r>
              <a:rPr sz="2400" spc="24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18513" y="2928915"/>
            <a:ext cx="5312033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Register/Login|</a:t>
            </a:r>
            <a:r>
              <a:rPr sz="2400" spc="12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|Add id |mark</a:t>
            </a:r>
            <a:r>
              <a:rPr sz="2400" spc="-1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attendance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41958" y="3279435"/>
            <a:ext cx="5443676" cy="10766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3042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v</a:t>
            </a:r>
            <a:r>
              <a:rPr sz="2400" spc="12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  <a:r>
              <a:rPr sz="2400" spc="24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v</a:t>
            </a:r>
          </a:p>
          <a:p>
            <a:pPr marL="1105281" marR="0">
              <a:lnSpc>
                <a:spcPts val="2657"/>
              </a:lnSpc>
              <a:spcBef>
                <a:spcPts val="52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+---------------------------+</a:t>
            </a:r>
          </a:p>
          <a:p>
            <a:pPr marL="0" marR="0">
              <a:lnSpc>
                <a:spcPts val="2657"/>
              </a:lnSpc>
              <a:spcBef>
                <a:spcPts val="102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  <a:r>
              <a:rPr sz="2400" spc="12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Student Attendance management</a:t>
            </a:r>
            <a:r>
              <a:rPr sz="2400" spc="1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System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35402" y="4330995"/>
            <a:ext cx="3661316" cy="14274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9098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</a:p>
          <a:p>
            <a:pPr marL="0" marR="0">
              <a:lnSpc>
                <a:spcPts val="2657"/>
              </a:lnSpc>
              <a:spcBef>
                <a:spcPts val="52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  <a:r>
              <a:rPr sz="2400" spc="12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(PHP Web Application)</a:t>
            </a:r>
            <a:r>
              <a:rPr sz="2400" spc="119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</a:p>
          <a:p>
            <a:pPr marL="211836" marR="0">
              <a:lnSpc>
                <a:spcPts val="2657"/>
              </a:lnSpc>
              <a:spcBef>
                <a:spcPts val="104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+---------------------------+</a:t>
            </a:r>
          </a:p>
          <a:p>
            <a:pPr marL="1761998" marR="0">
              <a:lnSpc>
                <a:spcPts val="2657"/>
              </a:lnSpc>
              <a:spcBef>
                <a:spcPts val="52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  <a:r>
              <a:rPr sz="2400" spc="30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↑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97405" y="5733329"/>
            <a:ext cx="4980766" cy="726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Atttendance</a:t>
            </a:r>
            <a:r>
              <a:rPr sz="2400" spc="1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Mgmt</a:t>
            </a:r>
            <a:r>
              <a:rPr sz="2400" spc="59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  <a:r>
              <a:rPr sz="2400" spc="2992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 Query/Update</a:t>
            </a:r>
          </a:p>
          <a:p>
            <a:pPr marL="2499995" marR="0">
              <a:lnSpc>
                <a:spcPts val="2657"/>
              </a:lnSpc>
              <a:spcBef>
                <a:spcPts val="52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v</a:t>
            </a:r>
            <a:r>
              <a:rPr sz="2400" spc="30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845942" y="6434370"/>
            <a:ext cx="3016055" cy="1778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18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+-------------------+</a:t>
            </a:r>
          </a:p>
          <a:p>
            <a:pPr marL="394716" marR="0">
              <a:lnSpc>
                <a:spcPts val="2657"/>
              </a:lnSpc>
              <a:spcBef>
                <a:spcPts val="52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  <a:r>
              <a:rPr sz="2400" spc="24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Database</a:t>
            </a:r>
            <a:r>
              <a:rPr sz="2400" spc="2989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</a:p>
          <a:p>
            <a:pPr marL="0" marR="0">
              <a:lnSpc>
                <a:spcPts val="2657"/>
              </a:lnSpc>
              <a:spcBef>
                <a:spcPts val="102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 (MySQL/MariaDB)</a:t>
            </a:r>
            <a:r>
              <a:rPr sz="2400" spc="120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</a:p>
          <a:p>
            <a:pPr marL="297180" marR="0">
              <a:lnSpc>
                <a:spcPts val="2657"/>
              </a:lnSpc>
              <a:spcBef>
                <a:spcPts val="55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+-------------------+</a:t>
            </a:r>
          </a:p>
          <a:p>
            <a:pPr marL="1515110" marR="0">
              <a:lnSpc>
                <a:spcPts val="2657"/>
              </a:lnSpc>
              <a:spcBef>
                <a:spcPts val="102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^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02201" y="8187350"/>
            <a:ext cx="213419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43123" y="8537871"/>
            <a:ext cx="2426527" cy="10766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+-------------------+</a:t>
            </a:r>
          </a:p>
          <a:p>
            <a:pPr marL="118872" marR="0">
              <a:lnSpc>
                <a:spcPts val="2657"/>
              </a:lnSpc>
              <a:spcBef>
                <a:spcPts val="52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  <a:r>
              <a:rPr sz="2400" spc="30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Admin</a:t>
            </a:r>
            <a:r>
              <a:rPr sz="2400" spc="420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|</a:t>
            </a:r>
          </a:p>
          <a:p>
            <a:pPr marL="0" marR="0">
              <a:lnSpc>
                <a:spcPts val="2657"/>
              </a:lnSpc>
              <a:spcBef>
                <a:spcPts val="101"/>
              </a:spcBef>
              <a:spcAft>
                <a:spcPts val="0"/>
              </a:spcAft>
            </a:pPr>
            <a:r>
              <a:rPr sz="2400" dirty="0">
                <a:solidFill>
                  <a:srgbClr val="262626"/>
                </a:solidFill>
                <a:latin typeface="Times New Roman"/>
                <a:cs typeface="Times New Roman"/>
              </a:rPr>
              <a:t>+-------------------+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809625" y="3382517"/>
            <a:ext cx="5949950" cy="5949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09548" y="825414"/>
            <a:ext cx="5989896" cy="1894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F497D"/>
                </a:solidFill>
                <a:latin typeface="Times New Roman"/>
                <a:cs typeface="Times New Roman"/>
              </a:rPr>
              <a:t>DFD Level</a:t>
            </a:r>
            <a:r>
              <a:rPr sz="2400" b="1" spc="18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97D"/>
                </a:solidFill>
                <a:latin typeface="Times New Roman"/>
                <a:cs typeface="Times New Roman"/>
              </a:rPr>
              <a:t>1 – Student Attendance</a:t>
            </a:r>
          </a:p>
          <a:p>
            <a:pPr marL="0" marR="0">
              <a:lnSpc>
                <a:spcPts val="2657"/>
              </a:lnSpc>
              <a:spcBef>
                <a:spcPts val="52"/>
              </a:spcBef>
              <a:spcAft>
                <a:spcPts val="0"/>
              </a:spcAft>
            </a:pPr>
            <a:r>
              <a:rPr sz="2400" b="1" dirty="0">
                <a:solidFill>
                  <a:srgbClr val="1F497D"/>
                </a:solidFill>
                <a:latin typeface="Times New Roman"/>
                <a:cs typeface="Times New Roman"/>
              </a:rPr>
              <a:t>Management System</a:t>
            </a:r>
          </a:p>
          <a:p>
            <a:pPr marL="0" marR="0">
              <a:lnSpc>
                <a:spcPts val="1767"/>
              </a:lnSpc>
              <a:spcBef>
                <a:spcPts val="1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Here is a visual representation of the Level 1 DFD for the Student</a:t>
            </a:r>
          </a:p>
          <a:p>
            <a:pPr marL="0" marR="0">
              <a:lnSpc>
                <a:spcPts val="1767"/>
              </a:lnSpc>
              <a:spcBef>
                <a:spcPts val="8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Attendance Management System. This diagram</a:t>
            </a:r>
            <a:r>
              <a:rPr sz="16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provides a high-level</a:t>
            </a:r>
          </a:p>
          <a:p>
            <a:pPr marL="0" marR="0">
              <a:lnSpc>
                <a:spcPts val="1767"/>
              </a:lnSpc>
              <a:spcBef>
                <a:spcPts val="1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overview of the entire</a:t>
            </a:r>
            <a:r>
              <a:rPr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system, showing how the main processes interact</a:t>
            </a:r>
          </a:p>
          <a:p>
            <a:pPr marL="0" marR="0">
              <a:lnSpc>
                <a:spcPts val="1767"/>
              </a:lnSpc>
              <a:spcBef>
                <a:spcPts val="6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with the Teacher (External Entity) and the Student Database (Data</a:t>
            </a:r>
          </a:p>
          <a:p>
            <a:pPr marL="0" marR="0">
              <a:lnSpc>
                <a:spcPts val="1767"/>
              </a:lnSpc>
              <a:spcBef>
                <a:spcPts val="3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Store).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809625" y="1863725"/>
            <a:ext cx="5949950" cy="5949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09548" y="825414"/>
            <a:ext cx="6080128" cy="1075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F497D"/>
                </a:solidFill>
                <a:latin typeface="Times New Roman"/>
                <a:cs typeface="Times New Roman"/>
              </a:rPr>
              <a:t>DFD Level</a:t>
            </a:r>
            <a:r>
              <a:rPr sz="2400" b="1" spc="18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497D"/>
                </a:solidFill>
                <a:latin typeface="Times New Roman"/>
                <a:cs typeface="Times New Roman"/>
              </a:rPr>
              <a:t>2 – Attendance Module</a:t>
            </a:r>
          </a:p>
          <a:p>
            <a:pPr marL="0" marR="0">
              <a:lnSpc>
                <a:spcPts val="1767"/>
              </a:lnSpc>
              <a:spcBef>
                <a:spcPts val="1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Here is the DFD Level 2 for the Attendance Module, which breaks down</a:t>
            </a:r>
          </a:p>
          <a:p>
            <a:pPr marL="0" marR="0">
              <a:lnSpc>
                <a:spcPts val="1767"/>
              </a:lnSpc>
              <a:spcBef>
                <a:spcPts val="3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the "Attendance Module"</a:t>
            </a:r>
            <a:r>
              <a:rPr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process from</a:t>
            </a:r>
            <a:r>
              <a:rPr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the Level 1 diagram into more</a:t>
            </a:r>
          </a:p>
          <a:p>
            <a:pPr marL="0" marR="0">
              <a:lnSpc>
                <a:spcPts val="1767"/>
              </a:lnSpc>
              <a:spcBef>
                <a:spcPts val="6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specific</a:t>
            </a:r>
            <a:r>
              <a:rPr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functions.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9548" y="825414"/>
            <a:ext cx="1100583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497D"/>
                </a:solidFill>
                <a:latin typeface="Times New Roman"/>
                <a:cs typeface="Times New Roman"/>
              </a:rPr>
              <a:t>Design: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6748" y="1514898"/>
            <a:ext cx="4753094" cy="318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EFRNON+Symbol"/>
                <a:cs typeface="EFRNON+Symbol"/>
              </a:rPr>
              <a:t>•</a:t>
            </a:r>
            <a:r>
              <a:rPr sz="1800" spc="67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teachers(id PK, name, email, password_hash,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5110" y="1795735"/>
            <a:ext cx="1247514" cy="306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created_at)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66748" y="2063538"/>
            <a:ext cx="5494160" cy="17120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EFRNON+Symbol"/>
                <a:cs typeface="EFRNON+Symbol"/>
              </a:rPr>
              <a:t>•</a:t>
            </a:r>
            <a:r>
              <a:rPr sz="1800" spc="67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students(id PK,</a:t>
            </a:r>
            <a:r>
              <a:rPr sz="1800" spc="1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name, student_id_number, email)</a:t>
            </a:r>
          </a:p>
          <a:p>
            <a:pPr marL="0" marR="0">
              <a:lnSpc>
                <a:spcPts val="2205"/>
              </a:lnSpc>
              <a:spcBef>
                <a:spcPts val="10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EFRNON+Symbol"/>
                <a:cs typeface="EFRNON+Symbol"/>
              </a:rPr>
              <a:t>•</a:t>
            </a:r>
            <a:r>
              <a:rPr sz="1800" spc="67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courses(id PK, name, course_code, teacher_id FK)</a:t>
            </a:r>
          </a:p>
          <a:p>
            <a:pPr marL="0" marR="0">
              <a:lnSpc>
                <a:spcPts val="220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EFRNON+Symbol"/>
                <a:cs typeface="EFRNON+Symbol"/>
              </a:rPr>
              <a:t>•</a:t>
            </a:r>
            <a:r>
              <a:rPr sz="1800" spc="67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enrollments(id PK, student_id FK, course_id FK)</a:t>
            </a:r>
          </a:p>
          <a:p>
            <a:pPr marL="0" marR="0">
              <a:lnSpc>
                <a:spcPts val="2205"/>
              </a:lnSpc>
              <a:spcBef>
                <a:spcPts val="10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EFRNON+Symbol"/>
                <a:cs typeface="EFRNON+Symbol"/>
              </a:rPr>
              <a:t>•</a:t>
            </a:r>
            <a:r>
              <a:rPr sz="1800" spc="67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attendance_statuses(id PK, status_name)</a:t>
            </a:r>
          </a:p>
          <a:p>
            <a:pPr marL="0" marR="0">
              <a:lnSpc>
                <a:spcPts val="2205"/>
              </a:lnSpc>
              <a:spcBef>
                <a:spcPts val="1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EFRNON+Symbol"/>
                <a:cs typeface="EFRNON+Symbol"/>
              </a:rPr>
              <a:t>•</a:t>
            </a:r>
            <a:r>
              <a:rPr sz="1800" spc="67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attendance_records(id PK, enrollment_id FK,</a:t>
            </a:r>
            <a:r>
              <a:rPr sz="1800" spc="-1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date,</a:t>
            </a:r>
          </a:p>
          <a:p>
            <a:pPr marL="248361" marR="0">
              <a:lnSpc>
                <a:spcPts val="2110"/>
              </a:lnSpc>
              <a:spcBef>
                <a:spcPts val="51"/>
              </a:spcBef>
              <a:spcAft>
                <a:spcPts val="0"/>
              </a:spcAft>
            </a:pPr>
            <a:r>
              <a:rPr sz="1800" dirty="0">
                <a:solidFill>
                  <a:srgbClr val="262626"/>
                </a:solidFill>
                <a:latin typeface="Cambria"/>
                <a:cs typeface="Cambria"/>
              </a:rPr>
              <a:t>status_id FK, recorded_by_teacher_id FK, created_at)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307715" y="821689"/>
            <a:ext cx="1104974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OUTPUT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38148" y="1085341"/>
            <a:ext cx="1213252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1)</a:t>
            </a:r>
            <a:r>
              <a:rPr sz="1800" b="1" spc="-14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LOGIN PAGE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38148" y="5485764"/>
            <a:ext cx="2255439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2)</a:t>
            </a:r>
            <a:r>
              <a:rPr sz="1800" b="1" spc="-14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000000"/>
                </a:solidFill>
                <a:latin typeface="Times New Roman"/>
                <a:cs typeface="Times New Roman"/>
              </a:rPr>
              <a:t>ADD DETAILS OF STUDENT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4CA5AF-575A-4FB3-F294-C3322839E7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79" y="1602284"/>
            <a:ext cx="6376888" cy="29054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6249CB-A677-8355-A10A-F5B2D362D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16" y="6024202"/>
            <a:ext cx="6840425" cy="31722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09548" y="1347469"/>
            <a:ext cx="1689199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3)INTERFACE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9548" y="5487288"/>
            <a:ext cx="285020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4)MARKS ATTENDANCE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E4F136-E9C7-CF97-B4EC-1FF9BEF123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03" y="2179075"/>
            <a:ext cx="6088856" cy="27932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000BDA-AA0A-D38E-5132-A9D7127B3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20" y="5994772"/>
            <a:ext cx="6759652" cy="3109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44240" y="738188"/>
            <a:ext cx="2507435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6)REMOVE STUDENT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7DB406-42C4-06CC-1D1E-E6AB8BD527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32" y="1386260"/>
            <a:ext cx="5440784" cy="24619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09548" y="821689"/>
            <a:ext cx="1930031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6. 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9548" y="1347469"/>
            <a:ext cx="5603138" cy="817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Student</a:t>
            </a:r>
            <a:r>
              <a:rPr sz="18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Attendance</a:t>
            </a:r>
            <a:r>
              <a:rPr sz="1800" spc="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Management System provides an</a:t>
            </a:r>
          </a:p>
          <a:p>
            <a:pPr marL="0" marR="0">
              <a:lnSpc>
                <a:spcPts val="1993"/>
              </a:lnSpc>
              <a:spcBef>
                <a:spcPts val="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efficient way to manage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attendance</a:t>
            </a:r>
            <a:r>
              <a:rPr sz="1800" spc="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digitally. </a:t>
            </a:r>
            <a:r>
              <a:rPr sz="1800" spc="-10" dirty="0">
                <a:solidFill>
                  <a:srgbClr val="000000"/>
                </a:solidFill>
                <a:latin typeface="Times New Roman"/>
                <a:cs typeface="Times New Roman"/>
              </a:rPr>
              <a:t>It</a:t>
            </a:r>
            <a:r>
              <a:rPr sz="18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reduces</a:t>
            </a:r>
          </a:p>
          <a:p>
            <a:pPr marL="0" marR="0">
              <a:lnSpc>
                <a:spcPts val="1993"/>
              </a:lnSpc>
              <a:spcBef>
                <a:spcPts val="2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paperwork, ensures accuracy, and provides quick reporting.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9548" y="2924809"/>
            <a:ext cx="452753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7. LEARNING DURING</a:t>
            </a:r>
            <a:r>
              <a:rPr sz="1800" b="1" spc="1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PROJECT WORK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9548" y="3450970"/>
            <a:ext cx="3618587" cy="1342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PHP server-side scripting</a:t>
            </a:r>
          </a:p>
          <a:p>
            <a:pPr marL="0" marR="0">
              <a:lnSpc>
                <a:spcPts val="1993"/>
              </a:lnSpc>
              <a:spcBef>
                <a:spcPts val="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Session handling &amp; authentication</a:t>
            </a:r>
          </a:p>
          <a:p>
            <a:pPr marL="0" marR="0">
              <a:lnSpc>
                <a:spcPts val="1993"/>
              </a:lnSpc>
              <a:spcBef>
                <a:spcPts val="2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MySQL CRUD operations</a:t>
            </a:r>
          </a:p>
          <a:p>
            <a:pPr marL="0" marR="0">
              <a:lnSpc>
                <a:spcPts val="1993"/>
              </a:lnSpc>
              <a:spcBef>
                <a:spcPts val="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Designing ER diagrams &amp; DFDs</a:t>
            </a:r>
          </a:p>
          <a:p>
            <a:pPr marL="0" marR="0">
              <a:lnSpc>
                <a:spcPts val="1993"/>
              </a:lnSpc>
              <a:spcBef>
                <a:spcPts val="7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Secure coding (prepared statements)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9548" y="6868031"/>
            <a:ext cx="2184921" cy="8174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F497D"/>
                </a:solidFill>
                <a:latin typeface="Times New Roman"/>
                <a:cs typeface="Times New Roman"/>
              </a:rPr>
              <a:t>8. BIBLIOGRAPHY</a:t>
            </a:r>
          </a:p>
          <a:p>
            <a:pPr marL="0" marR="0">
              <a:lnSpc>
                <a:spcPts val="1993"/>
              </a:lnSpc>
              <a:spcBef>
                <a:spcPts val="2149"/>
              </a:spcBef>
              <a:spcAft>
                <a:spcPts val="0"/>
              </a:spcAft>
            </a:pPr>
            <a:r>
              <a:rPr sz="1800" b="1" u="sng" dirty="0">
                <a:solidFill>
                  <a:srgbClr val="000000"/>
                </a:solidFill>
                <a:latin typeface="Times New Roman"/>
                <a:cs typeface="Times New Roman"/>
              </a:rPr>
              <a:t>Online References: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9548" y="7919973"/>
            <a:ext cx="3465917" cy="817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PHP Official Documentation</a:t>
            </a:r>
          </a:p>
          <a:p>
            <a:pPr marL="0" marR="0">
              <a:lnSpc>
                <a:spcPts val="1993"/>
              </a:lnSpc>
              <a:spcBef>
                <a:spcPts val="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MySQL Reference</a:t>
            </a:r>
            <a:r>
              <a:rPr sz="1800" spc="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Guide</a:t>
            </a:r>
          </a:p>
          <a:p>
            <a:pPr marL="0" marR="0">
              <a:lnSpc>
                <a:spcPts val="1993"/>
              </a:lnSpc>
              <a:spcBef>
                <a:spcPts val="2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Tutorials on PHP/MySQL projects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9548" y="8971533"/>
            <a:ext cx="203858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sng" dirty="0">
                <a:solidFill>
                  <a:srgbClr val="000000"/>
                </a:solidFill>
                <a:latin typeface="Times New Roman"/>
                <a:cs typeface="Times New Roman"/>
              </a:rPr>
              <a:t>Offline References: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9548" y="9497567"/>
            <a:ext cx="2469221" cy="55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University lecture notes</a:t>
            </a:r>
          </a:p>
          <a:p>
            <a:pPr marL="0" marR="0">
              <a:lnSpc>
                <a:spcPts val="1993"/>
              </a:lnSpc>
              <a:spcBef>
                <a:spcPts val="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- Classroom materials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809625" y="2214244"/>
            <a:ext cx="5478779" cy="3634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1328</Words>
  <Application>Microsoft Office PowerPoint</Application>
  <PresentationFormat>Custom</PresentationFormat>
  <Paragraphs>254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Cambria</vt:lpstr>
      <vt:lpstr>Verdana</vt:lpstr>
      <vt:lpstr>Arial</vt:lpstr>
      <vt:lpstr>Times New Roman</vt:lpstr>
      <vt:lpstr>EFRNON+Symbol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Darshan</dc:creator>
  <cp:lastModifiedBy>Darshan Kannar</cp:lastModifiedBy>
  <cp:revision>4</cp:revision>
  <dcterms:modified xsi:type="dcterms:W3CDTF">2026-01-29T19:36:33Z</dcterms:modified>
</cp:coreProperties>
</file>